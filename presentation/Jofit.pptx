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mascot on screen. Say the name, then go straight to the questions on the next slide. No feature list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out loud. Pause after each question. Let a few people answer or laugh. This is the hook: everyone who trains has a real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answers one by one. The point: nobody watches your form, nobody reads your fatigue, and doing it right earns you nothing. That is the problem in three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card to the three questions. Q1 is bad form, Q2 is fatigue and no one stopping you, Q3 is no reward. Then ask: what if your phone could be the coach standing next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one-line pitch. Say it slowly. Everything after this slide proves one part of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left to right. Point out that step 3 is the heart: the camera, and step 6 is why people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line: "Let me show you one training day with JOFIT, in eight screens." Screen 1: you open the app and see your streak, your points and today's workout. Screen 2: you press Start and the camera tracks every joint, counting only good reps. Screen 3: when you finish, you get a report card with your form score and advice for next time. Screen 4: your weekly plan is built from your own body and your injuries. Then: "That's training. Now here's why people come back."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5: every clean rep becomes points you can turn into Islamic International Arab Bank points or spend on partner vouchers. Screen 6: your gym becomes a league, and you can see exactly where you stand. Screen 7: if something goes wrong, one tap calls 911, Jordan's emergency number, shows first-aid steps and lets you call your saved contact. Screen 8: everything is one swipe away, with Islamic International Arab Bank as our partner. Closing line: "Eight screens. One habit: train safe, get rewarded."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 demo it live: open the GitHub app, allow the camera, do two squats, one shallow. The buzz on the shallow rep sells the whole idea. The numbers come straight from squatThresholds.ts.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question 2: who tells you to stop? JOFIT does. Weight goes up only with clean form, and it comes down when you are struggling. Rules are in progressiveOverload.ts.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who has a bad knee or back? This slide is for them. The swaps are real rules from planGenerator.ts.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 answer on screen is the app's real offline answer, shortened. Mention the fallback: the coach never goes silent in a gym basement with no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question 3: what do you get for training safely? Now, something real. Partners and rates are the demo values in mockData.ts; say they are examples for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a race. Point to the champion first: Zaid leads with 3,450 points, best form and heaviest squat. Then drop to row 7, You, at 1,760. The gold box is the hook: every clean rep is 10 points, so 22 clean reps passes Dana and 169 takes first place. Sloppy reps score nothing, so the only way up is good form. Ties go to the other athlete, so you have to beat them outright. Names and points are the demo data in mockData.ts; the ranking rule is in leaderboard.ts.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card here is working in the app today. Read it as a timeline: before you train, the plan and the coach protect you. During the set, knee-safe mode and the rest timer protect you. After, the summary tells you what to fix. And if anything goes wrong, SOS is one tap away. 911 is Jordan's single emergency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for a non-technical panel. For judges who code, mention the rules live in small, testable files: squatThresholds, progressiveOverload, planGenerator.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Walk the road from left to right, one stop per click: plan, tracker, form gate, coach, leaderboard, wallet. Each stop is a feature already working in the GitHub app. End on the gold finish line: fewer injuries, real rewards. Then move to the thank-you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the opening. Read the three lines, pause, then the thank you. Introduce the team by name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Slide-background-4-image-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Slide-background-5-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151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EEF3E8"/>
                </a:solidFill>
                <a:latin typeface="Sora" pitchFamily="34" charset="0"/>
                <a:ea typeface="Sora" pitchFamily="34" charset="-122"/>
                <a:cs typeface="Sor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4"/>
            <a:ext cx="10566400" cy="4109716"/>
          </a:xfrm>
          <a:prstGeom prst="rect">
            <a:avLst/>
          </a:prstGeom>
          <a:noFill/>
          <a:ln/>
        </p:spPr>
        <p:txBody>
          <a:bodyPr wrap="square" lIns="0" tIns="0" rIns="0" bIns="0" rtlCol="0" anchor="t"/>
          <a:lstStyle>
            <a:lvl1pPr algn="l" indent="0" marL="0">
              <a:lnSpc>
                <a:spcPct val="140000"/>
              </a:lnSpc>
              <a:buNone/>
              <a:defRPr lang="en-US" sz="1600" dirty="0">
                <a:solidFill>
                  <a:srgbClr val="EEF3E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E3C98E"/>
                </a:solidFill>
                <a:latin typeface="Sora" pitchFamily="34" charset="0"/>
                <a:ea typeface="Sora" pitchFamily="34" charset="-122"/>
                <a:cs typeface="Sor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4"/>
            <a:ext cx="10566400" cy="4109716"/>
          </a:xfrm>
          <a:prstGeom prst="rect">
            <a:avLst/>
          </a:prstGeom>
          <a:noFill/>
          <a:ln/>
        </p:spPr>
        <p:txBody>
          <a:bodyPr wrap="square" lIns="0" tIns="0" rIns="0" bIns="0" rtlCol="0" anchor="t"/>
          <a:lstStyle>
            <a:lvl1pPr algn="l" indent="0" marL="0">
              <a:lnSpc>
                <a:spcPct val="140000"/>
              </a:lnSpc>
              <a:buNone/>
              <a:defRPr lang="en-US" sz="1600" dirty="0">
                <a:solidFill>
                  <a:srgbClr val="E3C98E"/>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EEF3E8"/>
                </a:solidFill>
                <a:latin typeface="Sora" pitchFamily="34" charset="0"/>
                <a:ea typeface="Sora" pitchFamily="34" charset="-122"/>
                <a:cs typeface="Sor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4"/>
            <a:ext cx="10566400" cy="4109716"/>
          </a:xfrm>
          <a:prstGeom prst="rect">
            <a:avLst/>
          </a:prstGeom>
          <a:noFill/>
          <a:ln/>
        </p:spPr>
        <p:txBody>
          <a:bodyPr wrap="square" lIns="0" tIns="0" rIns="0" bIns="0" rtlCol="0" anchor="t"/>
          <a:lstStyle>
            <a:lvl1pPr algn="l" indent="0" marL="0">
              <a:lnSpc>
                <a:spcPct val="140000"/>
              </a:lnSpc>
              <a:buNone/>
              <a:defRPr lang="en-US" sz="1600" dirty="0">
                <a:solidFill>
                  <a:srgbClr val="BFCDB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3EEE2"/>
                </a:solidFill>
                <a:latin typeface="Sora" pitchFamily="34" charset="0"/>
                <a:ea typeface="Sora" pitchFamily="34" charset="-122"/>
                <a:cs typeface="Sor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4"/>
            <a:ext cx="10566400" cy="4109716"/>
          </a:xfrm>
          <a:prstGeom prst="rect">
            <a:avLst/>
          </a:prstGeom>
          <a:noFill/>
          <a:ln/>
        </p:spPr>
        <p:txBody>
          <a:bodyPr wrap="square" lIns="0" tIns="0" rIns="0" bIns="0" rtlCol="0" anchor="t"/>
          <a:lstStyle>
            <a:lvl1pPr algn="l" indent="0" marL="0">
              <a:lnSpc>
                <a:spcPct val="140000"/>
              </a:lnSpc>
              <a:buNone/>
              <a:defRPr lang="en-US" sz="1600" dirty="0">
                <a:solidFill>
                  <a:srgbClr val="D9CFB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background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EEF3E8"/>
                </a:solidFill>
                <a:latin typeface="Sora" pitchFamily="34" charset="0"/>
                <a:ea typeface="Sora" pitchFamily="34" charset="-122"/>
                <a:cs typeface="Sor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4"/>
            <a:ext cx="10566400" cy="4109716"/>
          </a:xfrm>
          <a:prstGeom prst="rect">
            <a:avLst/>
          </a:prstGeom>
          <a:noFill/>
          <a:ln/>
        </p:spPr>
        <p:txBody>
          <a:bodyPr wrap="square" lIns="0" tIns="0" rIns="0" bIns="0" rtlCol="0" anchor="t"/>
          <a:lstStyle>
            <a:lvl1pPr algn="l" indent="0" marL="0">
              <a:lnSpc>
                <a:spcPct val="140000"/>
              </a:lnSpc>
              <a:buNone/>
              <a:defRPr lang="en-US" sz="1600" dirty="0">
                <a:solidFill>
                  <a:srgbClr val="EEF3E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background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EEF3E8"/>
                </a:solidFill>
                <a:latin typeface="Sora" pitchFamily="34" charset="0"/>
                <a:ea typeface="Sora" pitchFamily="34" charset="-122"/>
                <a:cs typeface="Sor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4"/>
            <a:ext cx="10566400" cy="4109716"/>
          </a:xfrm>
          <a:prstGeom prst="rect">
            <a:avLst/>
          </a:prstGeom>
          <a:noFill/>
          <a:ln/>
        </p:spPr>
        <p:txBody>
          <a:bodyPr wrap="square" lIns="0" tIns="0" rIns="0" bIns="0" rtlCol="0" anchor="t"/>
          <a:lstStyle>
            <a:lvl1pPr algn="l" indent="0" marL="0">
              <a:lnSpc>
                <a:spcPct val="140000"/>
              </a:lnSpc>
              <a:buNone/>
              <a:defRPr lang="en-US" sz="1600" dirty="0">
                <a:solidFill>
                  <a:srgbClr val="FAF9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51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EEF3E8"/>
                </a:solidFill>
                <a:latin typeface="Sora" pitchFamily="34" charset="0"/>
                <a:ea typeface="Sora" pitchFamily="34" charset="-122"/>
                <a:cs typeface="Sor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4"/>
            <a:ext cx="10566400" cy="4109716"/>
          </a:xfrm>
          <a:prstGeom prst="rect">
            <a:avLst/>
          </a:prstGeom>
          <a:noFill/>
          <a:ln/>
        </p:spPr>
        <p:txBody>
          <a:bodyPr wrap="square" lIns="0" tIns="0" rIns="0" bIns="0" rtlCol="0" anchor="t"/>
          <a:lstStyle>
            <a:lvl1pPr algn="l" indent="0" marL="0">
              <a:lnSpc>
                <a:spcPct val="140000"/>
              </a:lnSpc>
              <a:buNone/>
              <a:defRPr lang="en-US" sz="1600" dirty="0">
                <a:solidFill>
                  <a:srgbClr val="EEF3E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5.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7.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OFIT mascot: a strong man in a red keffiyeh and green vest lifting two dumbbells">    </p:cNvPr>
          <p:cNvPicPr>
            <a:picLocks noChangeAspect="1"/>
          </p:cNvPicPr>
          <p:nvPr/>
        </p:nvPicPr>
        <p:blipFill>
          <a:blip r:embed="rId1"/>
          <a:srcRect l="0" r="0" t="0" b="0"/>
          <a:stretch/>
        </p:blipFill>
        <p:spPr>
          <a:xfrm>
            <a:off x="5994400" y="952500"/>
            <a:ext cx="5588000" cy="4191000"/>
          </a:xfrm>
          <a:prstGeom prst="rect">
            <a:avLst/>
          </a:prstGeom>
        </p:spPr>
      </p:pic>
      <p:sp>
        <p:nvSpPr>
          <p:cNvPr id="3" name="Text 0"/>
          <p:cNvSpPr/>
          <p:nvPr/>
        </p:nvSpPr>
        <p:spPr>
          <a:xfrm>
            <a:off x="812800" y="1515745"/>
            <a:ext cx="5494020"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D4BC8C"/>
                </a:solidFill>
                <a:latin typeface="JetBrains Mono" pitchFamily="49" charset="0"/>
                <a:ea typeface="JetBrains Mono" pitchFamily="49" charset="-122"/>
                <a:cs typeface="JetBrains Mono" pitchFamily="49" charset="-120"/>
              </a:rPr>
              <a:t>HACKATHON PITCH · AMMAN · OCTOBER 2026</a:t>
            </a:r>
            <a:endParaRPr lang="en-US" sz="1200" dirty="0"/>
          </a:p>
        </p:txBody>
      </p:sp>
      <p:sp>
        <p:nvSpPr>
          <p:cNvPr id="4" name="Text 1"/>
          <p:cNvSpPr/>
          <p:nvPr>
            <p:ph type="title"/>
          </p:nvPr>
        </p:nvSpPr>
        <p:spPr>
          <a:xfrm>
            <a:off x="812800" y="1932305"/>
            <a:ext cx="5886450" cy="1422400"/>
          </a:xfrm>
          <a:prstGeom prst="rect">
            <a:avLst/>
          </a:prstGeom>
          <a:noFill/>
          <a:ln/>
        </p:spPr>
        <p:txBody>
          <a:bodyPr wrap="square" lIns="0" tIns="0" rIns="0" bIns="0" rtlCol="0" anchor="t">
            <a:normAutofit/>
          </a:bodyPr>
          <a:lstStyle/>
          <a:p>
            <a:pPr algn="l" indent="0" marL="0">
              <a:lnSpc>
                <a:spcPts val="11000"/>
              </a:lnSpc>
              <a:buNone/>
            </a:pPr>
            <a:r>
              <a:rPr lang="en-US" sz="11000" b="1" i="0" spc="800" kern="0" dirty="0">
                <a:solidFill>
                  <a:srgbClr val="E3C98E"/>
                </a:solidFill>
                <a:latin typeface="Cinzel" pitchFamily="18" charset="0"/>
                <a:ea typeface="Cinzel" pitchFamily="18" charset="-122"/>
                <a:cs typeface="Cinzel" pitchFamily="18" charset="-120"/>
              </a:rPr>
              <a:t>JOFIT</a:t>
            </a:r>
            <a:endParaRPr lang="en-US" sz="11000" dirty="0"/>
          </a:p>
        </p:txBody>
      </p:sp>
      <p:sp>
        <p:nvSpPr>
          <p:cNvPr id="5" name="Text 2"/>
          <p:cNvSpPr/>
          <p:nvPr/>
        </p:nvSpPr>
        <p:spPr>
          <a:xfrm>
            <a:off x="812800" y="3532505"/>
            <a:ext cx="5363210" cy="10731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EEF3E8"/>
                </a:solidFill>
                <a:latin typeface="Sora" pitchFamily="34" charset="0"/>
                <a:ea typeface="Sora" pitchFamily="34" charset="-122"/>
                <a:cs typeface="Sora" pitchFamily="34" charset="-120"/>
              </a:rPr>
              <a:t>Intelligent health &amp; training that watches your form and pays you back for training safely.</a:t>
            </a:r>
            <a:endParaRPr lang="en-US" sz="2200" dirty="0"/>
          </a:p>
        </p:txBody>
      </p:sp>
      <p:pic>
        <p:nvPicPr>
          <p:cNvPr id="6" name="Image 1" descr="Islamic International Arab Bank logo">    </p:cNvPr>
          <p:cNvPicPr>
            <a:picLocks noChangeAspect="1"/>
          </p:cNvPicPr>
          <p:nvPr/>
        </p:nvPicPr>
        <p:blipFill>
          <a:blip r:embed="rId2"/>
          <a:srcRect l="0" r="0" t="0" b="0"/>
          <a:stretch/>
        </p:blipFill>
        <p:spPr>
          <a:xfrm>
            <a:off x="812800" y="4783455"/>
            <a:ext cx="558800" cy="558800"/>
          </a:xfrm>
          <a:prstGeom prst="roundRect">
            <a:avLst>
              <a:gd name="adj" fmla="val 20455"/>
            </a:avLst>
          </a:prstGeom>
        </p:spPr>
      </p:pic>
      <p:sp>
        <p:nvSpPr>
          <p:cNvPr id="7" name="Text 3"/>
          <p:cNvSpPr/>
          <p:nvPr/>
        </p:nvSpPr>
        <p:spPr>
          <a:xfrm>
            <a:off x="1498600" y="4947285"/>
            <a:ext cx="449580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6C5"/>
                </a:solidFill>
                <a:latin typeface="Inter" pitchFamily="34" charset="0"/>
                <a:ea typeface="Inter" pitchFamily="34" charset="-122"/>
                <a:cs typeface="Inter" pitchFamily="34" charset="-120"/>
              </a:rPr>
              <a:t>Partnered with </a:t>
            </a:r>
            <a:r>
              <a:rPr lang="en-US" sz="1400" b="1" dirty="0">
                <a:solidFill>
                  <a:srgbClr val="EEF3E8"/>
                </a:solidFill>
                <a:latin typeface="Inter" pitchFamily="34" charset="0"/>
                <a:ea typeface="Inter" pitchFamily="34" charset="-122"/>
                <a:cs typeface="Inter" pitchFamily="34" charset="-120"/>
              </a:rPr>
              <a:t>Islamic International Arab Bank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5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62C48E"/>
                </a:solidFill>
                <a:latin typeface="JetBrains Mono" pitchFamily="49" charset="0"/>
                <a:ea typeface="JetBrains Mono" pitchFamily="49" charset="-122"/>
                <a:cs typeface="JetBrains Mono" pitchFamily="49" charset="-120"/>
              </a:rPr>
              <a:t>BEFORE WE START, THREE QUESTIONS</a:t>
            </a:r>
            <a:endParaRPr lang="en-US" sz="1200" dirty="0"/>
          </a:p>
        </p:txBody>
      </p:sp>
      <p:sp>
        <p:nvSpPr>
          <p:cNvPr id="3" name="Shape 1"/>
          <p:cNvSpPr/>
          <p:nvPr/>
        </p:nvSpPr>
        <p:spPr>
          <a:xfrm>
            <a:off x="815975" y="1384935"/>
            <a:ext cx="3346450" cy="2716530"/>
          </a:xfrm>
          <a:prstGeom prst="roundRect">
            <a:avLst>
              <a:gd name="adj" fmla="val 6428"/>
            </a:avLst>
          </a:prstGeom>
          <a:solidFill>
            <a:srgbClr val="151E18"/>
          </a:solidFill>
          <a:ln w="6350">
            <a:solidFill>
              <a:srgbClr val="2A3830"/>
            </a:solidFill>
            <a:prstDash val="solid"/>
          </a:ln>
        </p:spPr>
      </p:sp>
      <p:sp>
        <p:nvSpPr>
          <p:cNvPr id="4" name="Text 2"/>
          <p:cNvSpPr/>
          <p:nvPr/>
        </p:nvSpPr>
        <p:spPr>
          <a:xfrm>
            <a:off x="1122680" y="1691640"/>
            <a:ext cx="281503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62C48E"/>
                </a:solidFill>
                <a:latin typeface="Sora" pitchFamily="34" charset="0"/>
                <a:ea typeface="Sora" pitchFamily="34" charset="-122"/>
                <a:cs typeface="Sora" pitchFamily="34" charset="-120"/>
              </a:rPr>
              <a:t>1</a:t>
            </a:r>
            <a:endParaRPr lang="en-US" sz="4800" dirty="0"/>
          </a:p>
        </p:txBody>
      </p:sp>
      <p:sp>
        <p:nvSpPr>
          <p:cNvPr id="5" name="Text 3"/>
          <p:cNvSpPr/>
          <p:nvPr/>
        </p:nvSpPr>
        <p:spPr>
          <a:xfrm>
            <a:off x="1122680" y="2453640"/>
            <a:ext cx="2815031" cy="13665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3E8"/>
                </a:solidFill>
                <a:latin typeface="Sora" pitchFamily="34" charset="0"/>
                <a:ea typeface="Sora" pitchFamily="34" charset="-122"/>
                <a:cs typeface="Sora" pitchFamily="34" charset="-120"/>
              </a:rPr>
              <a:t>How many reps did you do with bad form last week?</a:t>
            </a:r>
            <a:endParaRPr lang="en-US" sz="2200" dirty="0"/>
          </a:p>
        </p:txBody>
      </p:sp>
      <p:sp>
        <p:nvSpPr>
          <p:cNvPr id="6" name="Shape 4"/>
          <p:cNvSpPr/>
          <p:nvPr/>
        </p:nvSpPr>
        <p:spPr>
          <a:xfrm>
            <a:off x="4422775" y="1384935"/>
            <a:ext cx="3346450" cy="2716530"/>
          </a:xfrm>
          <a:prstGeom prst="roundRect">
            <a:avLst>
              <a:gd name="adj" fmla="val 6428"/>
            </a:avLst>
          </a:prstGeom>
          <a:solidFill>
            <a:srgbClr val="151E18"/>
          </a:solidFill>
          <a:ln w="6350">
            <a:solidFill>
              <a:srgbClr val="2A3830"/>
            </a:solidFill>
            <a:prstDash val="solid"/>
          </a:ln>
        </p:spPr>
      </p:sp>
      <p:sp>
        <p:nvSpPr>
          <p:cNvPr id="7" name="Text 5"/>
          <p:cNvSpPr/>
          <p:nvPr/>
        </p:nvSpPr>
        <p:spPr>
          <a:xfrm>
            <a:off x="4729480" y="1691640"/>
            <a:ext cx="281503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4BC8C"/>
                </a:solidFill>
                <a:latin typeface="Sora" pitchFamily="34" charset="0"/>
                <a:ea typeface="Sora" pitchFamily="34" charset="-122"/>
                <a:cs typeface="Sora" pitchFamily="34" charset="-120"/>
              </a:rPr>
              <a:t>2</a:t>
            </a:r>
            <a:endParaRPr lang="en-US" sz="4800" dirty="0"/>
          </a:p>
        </p:txBody>
      </p:sp>
      <p:sp>
        <p:nvSpPr>
          <p:cNvPr id="8" name="Text 6"/>
          <p:cNvSpPr/>
          <p:nvPr/>
        </p:nvSpPr>
        <p:spPr>
          <a:xfrm>
            <a:off x="4729480" y="2453640"/>
            <a:ext cx="2815031" cy="103124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3E8"/>
                </a:solidFill>
                <a:latin typeface="Sora" pitchFamily="34" charset="0"/>
                <a:ea typeface="Sora" pitchFamily="34" charset="-122"/>
                <a:cs typeface="Sora" pitchFamily="34" charset="-120"/>
              </a:rPr>
              <a:t>Who told you to stop before your knee did?</a:t>
            </a:r>
            <a:endParaRPr lang="en-US" sz="2200" dirty="0"/>
          </a:p>
        </p:txBody>
      </p:sp>
      <p:sp>
        <p:nvSpPr>
          <p:cNvPr id="9" name="Shape 7"/>
          <p:cNvSpPr/>
          <p:nvPr/>
        </p:nvSpPr>
        <p:spPr>
          <a:xfrm>
            <a:off x="8029575" y="1384935"/>
            <a:ext cx="3346450" cy="2716530"/>
          </a:xfrm>
          <a:prstGeom prst="roundRect">
            <a:avLst>
              <a:gd name="adj" fmla="val 6428"/>
            </a:avLst>
          </a:prstGeom>
          <a:solidFill>
            <a:srgbClr val="151E18"/>
          </a:solidFill>
          <a:ln w="6350">
            <a:solidFill>
              <a:srgbClr val="2A3830"/>
            </a:solidFill>
            <a:prstDash val="solid"/>
          </a:ln>
        </p:spPr>
      </p:sp>
      <p:sp>
        <p:nvSpPr>
          <p:cNvPr id="10" name="Text 8"/>
          <p:cNvSpPr/>
          <p:nvPr/>
        </p:nvSpPr>
        <p:spPr>
          <a:xfrm>
            <a:off x="8336280" y="1691640"/>
            <a:ext cx="281503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8786C"/>
                </a:solidFill>
                <a:latin typeface="Sora" pitchFamily="34" charset="0"/>
                <a:ea typeface="Sora" pitchFamily="34" charset="-122"/>
                <a:cs typeface="Sora" pitchFamily="34" charset="-120"/>
              </a:rPr>
              <a:t>3</a:t>
            </a:r>
            <a:endParaRPr lang="en-US" sz="4800" dirty="0"/>
          </a:p>
        </p:txBody>
      </p:sp>
      <p:sp>
        <p:nvSpPr>
          <p:cNvPr id="11" name="Text 9"/>
          <p:cNvSpPr/>
          <p:nvPr/>
        </p:nvSpPr>
        <p:spPr>
          <a:xfrm>
            <a:off x="8336280" y="2453640"/>
            <a:ext cx="2815031"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3E8"/>
                </a:solidFill>
                <a:latin typeface="Sora" pitchFamily="34" charset="0"/>
                <a:ea typeface="Sora" pitchFamily="34" charset="-122"/>
                <a:cs typeface="Sora" pitchFamily="34" charset="-120"/>
              </a:rPr>
              <a:t>What did you get for training safely?</a:t>
            </a:r>
            <a:endParaRPr lang="en-US" sz="2200" dirty="0"/>
          </a:p>
        </p:txBody>
      </p:sp>
      <p:sp>
        <p:nvSpPr>
          <p:cNvPr id="12" name="Text 10"/>
          <p:cNvSpPr/>
          <p:nvPr/>
        </p:nvSpPr>
        <p:spPr>
          <a:xfrm>
            <a:off x="812800" y="44602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4A598"/>
                </a:solidFill>
                <a:latin typeface="Inter" pitchFamily="34" charset="0"/>
                <a:ea typeface="Inter" pitchFamily="34" charset="-122"/>
                <a:cs typeface="Inter" pitchFamily="34" charset="-120"/>
              </a:rPr>
              <a:t>Think about your answers. Keep them in your head for the next slide.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EE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1E7A4D"/>
                </a:solidFill>
                <a:latin typeface="JetBrains Mono" pitchFamily="49" charset="0"/>
                <a:ea typeface="JetBrains Mono" pitchFamily="49" charset="-122"/>
                <a:cs typeface="JetBrains Mono" pitchFamily="49" charset="-120"/>
              </a:rPr>
              <a:t>FOR MOST PEOPLE WHO TRAIN, THE HONEST ANSWERS ARE</a:t>
            </a:r>
            <a:endParaRPr lang="en-US" sz="1200" dirty="0"/>
          </a:p>
        </p:txBody>
      </p:sp>
      <p:sp>
        <p:nvSpPr>
          <p:cNvPr id="3" name="Shape 1"/>
          <p:cNvSpPr/>
          <p:nvPr/>
        </p:nvSpPr>
        <p:spPr>
          <a:xfrm>
            <a:off x="812800" y="2110741"/>
            <a:ext cx="3352800" cy="0"/>
          </a:xfrm>
          <a:prstGeom prst="line">
            <a:avLst/>
          </a:prstGeom>
          <a:noFill/>
          <a:ln w="38100">
            <a:solidFill>
              <a:srgbClr val="1E7A4D"/>
            </a:solidFill>
            <a:prstDash val="solid"/>
          </a:ln>
        </p:spPr>
      </p:sp>
      <p:sp>
        <p:nvSpPr>
          <p:cNvPr id="4" name="Text 2"/>
          <p:cNvSpPr/>
          <p:nvPr/>
        </p:nvSpPr>
        <p:spPr>
          <a:xfrm>
            <a:off x="812800" y="2381250"/>
            <a:ext cx="345338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0"/>
                </a:solidFill>
                <a:latin typeface="Inter" pitchFamily="34" charset="0"/>
                <a:ea typeface="Inter" pitchFamily="34" charset="-122"/>
                <a:cs typeface="Inter" pitchFamily="34" charset="-120"/>
              </a:rPr>
              <a:t>1 · Reps with bad form</a:t>
            </a:r>
            <a:endParaRPr lang="en-US" sz="1400" dirty="0"/>
          </a:p>
        </p:txBody>
      </p:sp>
      <p:sp>
        <p:nvSpPr>
          <p:cNvPr id="5" name="Text 3"/>
          <p:cNvSpPr/>
          <p:nvPr/>
        </p:nvSpPr>
        <p:spPr>
          <a:xfrm>
            <a:off x="812800" y="2757170"/>
            <a:ext cx="3453384" cy="1549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0E1511"/>
                </a:solidFill>
                <a:latin typeface="Sora" pitchFamily="34" charset="0"/>
                <a:ea typeface="Sora" pitchFamily="34" charset="-122"/>
                <a:cs typeface="Sora" pitchFamily="34" charset="-120"/>
              </a:rPr>
              <a:t>Too many.</a:t>
            </a:r>
            <a:endParaRPr lang="en-US" sz="6000" dirty="0"/>
          </a:p>
        </p:txBody>
      </p:sp>
      <p:sp>
        <p:nvSpPr>
          <p:cNvPr id="6" name="Shape 4"/>
          <p:cNvSpPr/>
          <p:nvPr/>
        </p:nvSpPr>
        <p:spPr>
          <a:xfrm>
            <a:off x="4419600" y="2110741"/>
            <a:ext cx="3352800" cy="0"/>
          </a:xfrm>
          <a:prstGeom prst="line">
            <a:avLst/>
          </a:prstGeom>
          <a:noFill/>
          <a:ln w="38100">
            <a:solidFill>
              <a:srgbClr val="9C7A3E"/>
            </a:solidFill>
            <a:prstDash val="solid"/>
          </a:ln>
        </p:spPr>
      </p:sp>
      <p:sp>
        <p:nvSpPr>
          <p:cNvPr id="7" name="Text 5"/>
          <p:cNvSpPr/>
          <p:nvPr/>
        </p:nvSpPr>
        <p:spPr>
          <a:xfrm>
            <a:off x="4419600" y="2381250"/>
            <a:ext cx="345338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0"/>
                </a:solidFill>
                <a:latin typeface="Inter" pitchFamily="34" charset="0"/>
                <a:ea typeface="Inter" pitchFamily="34" charset="-122"/>
                <a:cs typeface="Inter" pitchFamily="34" charset="-120"/>
              </a:rPr>
              <a:t>2 · Who told you to stop</a:t>
            </a:r>
            <a:endParaRPr lang="en-US" sz="1400" dirty="0"/>
          </a:p>
        </p:txBody>
      </p:sp>
      <p:sp>
        <p:nvSpPr>
          <p:cNvPr id="8" name="Text 6"/>
          <p:cNvSpPr/>
          <p:nvPr/>
        </p:nvSpPr>
        <p:spPr>
          <a:xfrm>
            <a:off x="4419600" y="2757170"/>
            <a:ext cx="3453384"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0E1511"/>
                </a:solidFill>
                <a:latin typeface="Sora" pitchFamily="34" charset="0"/>
                <a:ea typeface="Sora" pitchFamily="34" charset="-122"/>
                <a:cs typeface="Sora" pitchFamily="34" charset="-120"/>
              </a:rPr>
              <a:t>Nobody.</a:t>
            </a:r>
            <a:endParaRPr lang="en-US" sz="6000" dirty="0"/>
          </a:p>
        </p:txBody>
      </p:sp>
      <p:sp>
        <p:nvSpPr>
          <p:cNvPr id="9" name="Shape 7"/>
          <p:cNvSpPr/>
          <p:nvPr/>
        </p:nvSpPr>
        <p:spPr>
          <a:xfrm>
            <a:off x="8026400" y="2110741"/>
            <a:ext cx="3352800" cy="0"/>
          </a:xfrm>
          <a:prstGeom prst="line">
            <a:avLst/>
          </a:prstGeom>
          <a:noFill/>
          <a:ln w="38100">
            <a:solidFill>
              <a:srgbClr val="B23A3F"/>
            </a:solidFill>
            <a:prstDash val="solid"/>
          </a:ln>
        </p:spPr>
      </p:sp>
      <p:sp>
        <p:nvSpPr>
          <p:cNvPr id="10" name="Text 8"/>
          <p:cNvSpPr/>
          <p:nvPr/>
        </p:nvSpPr>
        <p:spPr>
          <a:xfrm>
            <a:off x="8026400" y="2381250"/>
            <a:ext cx="345338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0"/>
                </a:solidFill>
                <a:latin typeface="Inter" pitchFamily="34" charset="0"/>
                <a:ea typeface="Inter" pitchFamily="34" charset="-122"/>
                <a:cs typeface="Inter" pitchFamily="34" charset="-120"/>
              </a:rPr>
              <a:t>3 · Reward for training safely</a:t>
            </a:r>
            <a:endParaRPr lang="en-US" sz="1400" dirty="0"/>
          </a:p>
        </p:txBody>
      </p:sp>
      <p:sp>
        <p:nvSpPr>
          <p:cNvPr id="11" name="Text 9"/>
          <p:cNvSpPr/>
          <p:nvPr/>
        </p:nvSpPr>
        <p:spPr>
          <a:xfrm>
            <a:off x="8026400" y="2757170"/>
            <a:ext cx="3453384"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0E1511"/>
                </a:solidFill>
                <a:latin typeface="Sora" pitchFamily="34" charset="0"/>
                <a:ea typeface="Sora" pitchFamily="34" charset="-122"/>
                <a:cs typeface="Sora" pitchFamily="34" charset="-120"/>
              </a:rPr>
              <a:t>Nothing.</a:t>
            </a:r>
            <a:endParaRPr lang="en-US" sz="6000" dirty="0"/>
          </a:p>
        </p:txBody>
      </p:sp>
      <p:sp>
        <p:nvSpPr>
          <p:cNvPr id="12" name="Text 10"/>
          <p:cNvSpPr/>
          <p:nvPr/>
        </p:nvSpPr>
        <p:spPr>
          <a:xfrm>
            <a:off x="812800" y="5346700"/>
            <a:ext cx="8502650" cy="72390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0E1511"/>
                </a:solidFill>
                <a:latin typeface="Sora" pitchFamily="34" charset="0"/>
                <a:ea typeface="Sora" pitchFamily="34" charset="-122"/>
                <a:cs typeface="Sora" pitchFamily="34" charset="-120"/>
              </a:rPr>
              <a:t>That gap is where gym injuries come from. JOFIT was built to close it.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5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62C48E"/>
                </a:solidFill>
                <a:latin typeface="JetBrains Mono" pitchFamily="49" charset="0"/>
                <a:ea typeface="JetBrains Mono" pitchFamily="49" charset="-122"/>
                <a:cs typeface="JetBrains Mono" pitchFamily="49" charset="-120"/>
              </a:rPr>
              <a:t>WHY WE BUILT JOFIT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3E8"/>
                </a:solidFill>
                <a:latin typeface="Sora" pitchFamily="34" charset="0"/>
                <a:ea typeface="Sora" pitchFamily="34" charset="-122"/>
                <a:cs typeface="Sora" pitchFamily="34" charset="-120"/>
              </a:rPr>
              <a:t>Three problems, one app</a:t>
            </a:r>
            <a:endParaRPr lang="en-US" sz="3600" dirty="0"/>
          </a:p>
        </p:txBody>
      </p:sp>
      <p:sp>
        <p:nvSpPr>
          <p:cNvPr id="4" name="Shape 2"/>
          <p:cNvSpPr/>
          <p:nvPr/>
        </p:nvSpPr>
        <p:spPr>
          <a:xfrm>
            <a:off x="815975" y="1989455"/>
            <a:ext cx="3380264" cy="2975610"/>
          </a:xfrm>
          <a:prstGeom prst="roundRect">
            <a:avLst>
              <a:gd name="adj" fmla="val 5869"/>
            </a:avLst>
          </a:prstGeom>
          <a:solidFill>
            <a:srgbClr val="151E18"/>
          </a:solidFill>
          <a:ln w="6350">
            <a:solidFill>
              <a:srgbClr val="2A3830"/>
            </a:solidFill>
            <a:prstDash val="solid"/>
          </a:ln>
        </p:spPr>
      </p:sp>
      <p:pic>
        <p:nvPicPr>
          <p:cNvPr id="5" name="Image 0" descr="Warning">    </p:cNvPr>
          <p:cNvPicPr>
            <a:picLocks noChangeAspect="1"/>
          </p:cNvPicPr>
          <p:nvPr/>
        </p:nvPicPr>
        <p:blipFill>
          <a:blip r:embed="rId1"/>
          <a:srcRect l="0" r="0" t="0" b="0"/>
          <a:stretch/>
        </p:blipFill>
        <p:spPr>
          <a:xfrm>
            <a:off x="1122680" y="2296161"/>
            <a:ext cx="406400" cy="406400"/>
          </a:xfrm>
          <a:prstGeom prst="rect">
            <a:avLst/>
          </a:prstGeom>
        </p:spPr>
      </p:pic>
      <p:sp>
        <p:nvSpPr>
          <p:cNvPr id="6" name="Text 3"/>
          <p:cNvSpPr/>
          <p:nvPr/>
        </p:nvSpPr>
        <p:spPr>
          <a:xfrm>
            <a:off x="1122680" y="2829561"/>
            <a:ext cx="2849859"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3E8"/>
                </a:solidFill>
                <a:latin typeface="Sora" pitchFamily="34" charset="0"/>
                <a:ea typeface="Sora" pitchFamily="34" charset="-122"/>
                <a:cs typeface="Sora" pitchFamily="34" charset="-120"/>
              </a:rPr>
              <a:t>Bad form goes unseen</a:t>
            </a:r>
            <a:endParaRPr lang="en-US" sz="2200" dirty="0"/>
          </a:p>
        </p:txBody>
      </p:sp>
      <p:sp>
        <p:nvSpPr>
          <p:cNvPr id="7" name="Text 4"/>
          <p:cNvSpPr/>
          <p:nvPr/>
        </p:nvSpPr>
        <p:spPr>
          <a:xfrm>
            <a:off x="1122680" y="3627120"/>
            <a:ext cx="2849859"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DBF"/>
                </a:solidFill>
                <a:latin typeface="Inter" pitchFamily="34" charset="0"/>
                <a:ea typeface="Inter" pitchFamily="34" charset="-122"/>
                <a:cs typeface="Inter" pitchFamily="34" charset="-120"/>
              </a:rPr>
              <a:t>A coach can't watch every rep. Mirrors don't measure knee angles. Mistakes repeat until they hurt.</a:t>
            </a:r>
            <a:endParaRPr lang="en-US" sz="1400" dirty="0"/>
          </a:p>
        </p:txBody>
      </p:sp>
      <p:sp>
        <p:nvSpPr>
          <p:cNvPr id="8" name="Shape 5"/>
          <p:cNvSpPr/>
          <p:nvPr/>
        </p:nvSpPr>
        <p:spPr>
          <a:xfrm>
            <a:off x="4405789" y="1989455"/>
            <a:ext cx="3380343" cy="2975610"/>
          </a:xfrm>
          <a:prstGeom prst="roundRect">
            <a:avLst>
              <a:gd name="adj" fmla="val 5869"/>
            </a:avLst>
          </a:prstGeom>
          <a:solidFill>
            <a:srgbClr val="151E18"/>
          </a:solidFill>
          <a:ln w="6350">
            <a:solidFill>
              <a:srgbClr val="2A3830"/>
            </a:solidFill>
            <a:prstDash val="solid"/>
          </a:ln>
        </p:spPr>
      </p:sp>
      <p:pic>
        <p:nvPicPr>
          <p:cNvPr id="9" name="Image 1" descr="Activity">    </p:cNvPr>
          <p:cNvPicPr>
            <a:picLocks noChangeAspect="1"/>
          </p:cNvPicPr>
          <p:nvPr/>
        </p:nvPicPr>
        <p:blipFill>
          <a:blip r:embed="rId2"/>
          <a:srcRect l="0" r="0" t="0" b="0"/>
          <a:stretch/>
        </p:blipFill>
        <p:spPr>
          <a:xfrm>
            <a:off x="4712494" y="2296161"/>
            <a:ext cx="406400" cy="406400"/>
          </a:xfrm>
          <a:prstGeom prst="rect">
            <a:avLst/>
          </a:prstGeom>
        </p:spPr>
      </p:pic>
      <p:sp>
        <p:nvSpPr>
          <p:cNvPr id="10" name="Text 6"/>
          <p:cNvSpPr/>
          <p:nvPr/>
        </p:nvSpPr>
        <p:spPr>
          <a:xfrm>
            <a:off x="4712494" y="2829561"/>
            <a:ext cx="2849941"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3E8"/>
                </a:solidFill>
                <a:latin typeface="Sora" pitchFamily="34" charset="0"/>
                <a:ea typeface="Sora" pitchFamily="34" charset="-122"/>
                <a:cs typeface="Sora" pitchFamily="34" charset="-120"/>
              </a:rPr>
              <a:t>Fatigue gets ignored</a:t>
            </a:r>
            <a:endParaRPr lang="en-US" sz="2200" dirty="0"/>
          </a:p>
        </p:txBody>
      </p:sp>
      <p:sp>
        <p:nvSpPr>
          <p:cNvPr id="11" name="Text 7"/>
          <p:cNvSpPr/>
          <p:nvPr/>
        </p:nvSpPr>
        <p:spPr>
          <a:xfrm>
            <a:off x="4712494" y="3627120"/>
            <a:ext cx="2849941"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DBF"/>
                </a:solidFill>
                <a:latin typeface="Inter" pitchFamily="34" charset="0"/>
                <a:ea typeface="Inter" pitchFamily="34" charset="-122"/>
                <a:cs typeface="Inter" pitchFamily="34" charset="-120"/>
              </a:rPr>
              <a:t>People add weight on a fixed schedule, tired or not. The body says stop long after it should.</a:t>
            </a:r>
            <a:endParaRPr lang="en-US" sz="1400" dirty="0"/>
          </a:p>
        </p:txBody>
      </p:sp>
      <p:sp>
        <p:nvSpPr>
          <p:cNvPr id="12" name="Shape 8"/>
          <p:cNvSpPr/>
          <p:nvPr/>
        </p:nvSpPr>
        <p:spPr>
          <a:xfrm>
            <a:off x="7995682" y="1989455"/>
            <a:ext cx="3380343" cy="2975610"/>
          </a:xfrm>
          <a:prstGeom prst="roundRect">
            <a:avLst>
              <a:gd name="adj" fmla="val 5869"/>
            </a:avLst>
          </a:prstGeom>
          <a:solidFill>
            <a:srgbClr val="151E18"/>
          </a:solidFill>
          <a:ln w="6350">
            <a:solidFill>
              <a:srgbClr val="2A3830"/>
            </a:solidFill>
            <a:prstDash val="solid"/>
          </a:ln>
        </p:spPr>
      </p:sp>
      <p:pic>
        <p:nvPicPr>
          <p:cNvPr id="13" name="Image 2" descr="Star">    </p:cNvPr>
          <p:cNvPicPr>
            <a:picLocks noChangeAspect="1"/>
          </p:cNvPicPr>
          <p:nvPr/>
        </p:nvPicPr>
        <p:blipFill>
          <a:blip r:embed="rId3"/>
          <a:srcRect l="0" r="0" t="0" b="0"/>
          <a:stretch/>
        </p:blipFill>
        <p:spPr>
          <a:xfrm>
            <a:off x="8302387" y="2296161"/>
            <a:ext cx="406400" cy="406400"/>
          </a:xfrm>
          <a:prstGeom prst="rect">
            <a:avLst/>
          </a:prstGeom>
        </p:spPr>
      </p:pic>
      <p:sp>
        <p:nvSpPr>
          <p:cNvPr id="14" name="Text 9"/>
          <p:cNvSpPr/>
          <p:nvPr/>
        </p:nvSpPr>
        <p:spPr>
          <a:xfrm>
            <a:off x="8302387" y="2829561"/>
            <a:ext cx="2849941"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3E8"/>
                </a:solidFill>
                <a:latin typeface="Sora" pitchFamily="34" charset="0"/>
                <a:ea typeface="Sora" pitchFamily="34" charset="-122"/>
                <a:cs typeface="Sora" pitchFamily="34" charset="-120"/>
              </a:rPr>
              <a:t>Doing it right pays nothing</a:t>
            </a:r>
            <a:endParaRPr lang="en-US" sz="2200" dirty="0"/>
          </a:p>
        </p:txBody>
      </p:sp>
      <p:sp>
        <p:nvSpPr>
          <p:cNvPr id="15" name="Text 10"/>
          <p:cNvSpPr/>
          <p:nvPr/>
        </p:nvSpPr>
        <p:spPr>
          <a:xfrm>
            <a:off x="8302387" y="3627120"/>
            <a:ext cx="2849941"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DBF"/>
                </a:solidFill>
                <a:latin typeface="Inter" pitchFamily="34" charset="0"/>
                <a:ea typeface="Inter" pitchFamily="34" charset="-122"/>
                <a:cs typeface="Inter" pitchFamily="34" charset="-120"/>
              </a:rPr>
              <a:t>Apps reward volume and streaks. None reward a clean, safe rep, so nobody chases one.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2C48E"/>
        </a:solidFill>
      </p:bgPr>
    </p:bg>
    <p:spTree>
      <p:nvGrpSpPr>
        <p:cNvPr id="1" name=""/>
        <p:cNvGrpSpPr/>
        <p:nvPr/>
      </p:nvGrpSpPr>
      <p:grpSpPr>
        <a:xfrm>
          <a:off x="0" y="0"/>
          <a:ext cx="0" cy="0"/>
          <a:chOff x="0" y="0"/>
          <a:chExt cx="0" cy="0"/>
        </a:xfrm>
      </p:grpSpPr>
      <p:sp>
        <p:nvSpPr>
          <p:cNvPr id="2" name="Text 0"/>
          <p:cNvSpPr/>
          <p:nvPr/>
        </p:nvSpPr>
        <p:spPr>
          <a:xfrm>
            <a:off x="812800" y="14808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0B3A24"/>
                </a:solidFill>
                <a:latin typeface="JetBrains Mono" pitchFamily="49" charset="0"/>
                <a:ea typeface="JetBrains Mono" pitchFamily="49" charset="-122"/>
                <a:cs typeface="JetBrains Mono" pitchFamily="49" charset="-120"/>
              </a:rPr>
              <a:t>SO WE ASKED: WHAT IF YOUR PHONE WAS THE COACH?</a:t>
            </a:r>
            <a:endParaRPr lang="en-US" sz="1200" dirty="0"/>
          </a:p>
        </p:txBody>
      </p:sp>
      <p:sp>
        <p:nvSpPr>
          <p:cNvPr id="3" name="Text 1"/>
          <p:cNvSpPr/>
          <p:nvPr>
            <p:ph type="title"/>
          </p:nvPr>
        </p:nvSpPr>
        <p:spPr>
          <a:xfrm>
            <a:off x="812800" y="1998982"/>
            <a:ext cx="10203180" cy="2707640"/>
          </a:xfrm>
          <a:prstGeom prst="rect">
            <a:avLst/>
          </a:prstGeom>
          <a:noFill/>
          <a:ln/>
        </p:spPr>
        <p:txBody>
          <a:bodyPr wrap="square" lIns="0" tIns="0" rIns="0" bIns="0" rtlCol="0" anchor="t">
            <a:normAutofit/>
          </a:bodyPr>
          <a:lstStyle/>
          <a:p>
            <a:pPr algn="l" indent="0" marL="0">
              <a:lnSpc>
                <a:spcPts val="5280"/>
              </a:lnSpc>
              <a:buNone/>
            </a:pPr>
            <a:r>
              <a:rPr lang="en-US" sz="4800" b="1" i="0" spc="-100" kern="0" dirty="0">
                <a:solidFill>
                  <a:srgbClr val="0B1A12"/>
                </a:solidFill>
                <a:latin typeface="Sora" pitchFamily="34" charset="0"/>
                <a:ea typeface="Sora" pitchFamily="34" charset="-122"/>
                <a:cs typeface="Sora" pitchFamily="34" charset="-120"/>
              </a:rPr>
              <a:t>JOFIT watches every rep, protects your body, and turns safe training into rewards from the bank.</a:t>
            </a:r>
            <a:endParaRPr lang="en-US" sz="4800" dirty="0"/>
          </a:p>
        </p:txBody>
      </p:sp>
      <p:sp>
        <p:nvSpPr>
          <p:cNvPr id="4" name="Text 2"/>
          <p:cNvSpPr/>
          <p:nvPr/>
        </p:nvSpPr>
        <p:spPr>
          <a:xfrm>
            <a:off x="812800" y="4986021"/>
            <a:ext cx="10883392" cy="416560"/>
          </a:xfrm>
          <a:prstGeom prst="rect">
            <a:avLst/>
          </a:prstGeom>
          <a:noFill/>
          <a:ln/>
        </p:spPr>
        <p:txBody>
          <a:bodyPr wrap="square" lIns="0" tIns="0" rIns="0" bIns="0" rtlCol="0" anchor="t">
            <a:normAutofit/>
          </a:bodyPr>
          <a:lstStyle/>
          <a:p>
            <a:pPr algn="l" indent="0" marL="0">
              <a:lnSpc>
                <a:spcPts val="3080"/>
              </a:lnSpc>
              <a:buNone/>
            </a:pPr>
            <a:r>
              <a:rPr lang="en-US" sz="2200" b="1" spc="400" kern="0" dirty="0">
                <a:solidFill>
                  <a:srgbClr val="0B3A24"/>
                </a:solidFill>
                <a:latin typeface="Cinzel" pitchFamily="18" charset="0"/>
                <a:ea typeface="Cinzel" pitchFamily="18" charset="-122"/>
                <a:cs typeface="Cinzel" pitchFamily="18" charset="-120"/>
              </a:rPr>
              <a:t>Health for Wealth</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5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62C48E"/>
                </a:solidFill>
                <a:latin typeface="JetBrains Mono" pitchFamily="49" charset="0"/>
                <a:ea typeface="JetBrains Mono" pitchFamily="49" charset="-122"/>
                <a:cs typeface="JetBrains Mono" pitchFamily="49" charset="-120"/>
              </a:rPr>
              <a:t>HOW IT WORKS</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3E8"/>
                </a:solidFill>
                <a:latin typeface="Sora" pitchFamily="34" charset="0"/>
                <a:ea typeface="Sora" pitchFamily="34" charset="-122"/>
                <a:cs typeface="Sora" pitchFamily="34" charset="-120"/>
              </a:rPr>
              <a:t>One loop, from first survey to bank points</a:t>
            </a:r>
            <a:endParaRPr lang="en-US" sz="3600" dirty="0"/>
          </a:p>
        </p:txBody>
      </p:sp>
      <p:sp>
        <p:nvSpPr>
          <p:cNvPr id="4" name="Shape 2"/>
          <p:cNvSpPr/>
          <p:nvPr/>
        </p:nvSpPr>
        <p:spPr>
          <a:xfrm>
            <a:off x="815975" y="2040257"/>
            <a:ext cx="1539637" cy="1720850"/>
          </a:xfrm>
          <a:prstGeom prst="roundRect">
            <a:avLst>
              <a:gd name="adj" fmla="val 9692"/>
            </a:avLst>
          </a:prstGeom>
          <a:solidFill>
            <a:srgbClr val="151E18"/>
          </a:solidFill>
          <a:ln w="6350">
            <a:solidFill>
              <a:srgbClr val="2A3830"/>
            </a:solidFill>
            <a:prstDash val="solid"/>
          </a:ln>
        </p:spPr>
      </p:sp>
      <p:sp>
        <p:nvSpPr>
          <p:cNvPr id="5" name="Text 3"/>
          <p:cNvSpPr/>
          <p:nvPr/>
        </p:nvSpPr>
        <p:spPr>
          <a:xfrm>
            <a:off x="995680" y="2245361"/>
            <a:ext cx="12310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995680" y="2560321"/>
            <a:ext cx="12310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Survey</a:t>
            </a:r>
            <a:endParaRPr lang="en-US" sz="1600" dirty="0"/>
          </a:p>
        </p:txBody>
      </p:sp>
      <p:sp>
        <p:nvSpPr>
          <p:cNvPr id="7" name="Text 5"/>
          <p:cNvSpPr/>
          <p:nvPr/>
        </p:nvSpPr>
        <p:spPr>
          <a:xfrm>
            <a:off x="995680" y="2905761"/>
            <a:ext cx="12310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DBF"/>
                </a:solidFill>
                <a:latin typeface="Inter" pitchFamily="34" charset="0"/>
                <a:ea typeface="Inter" pitchFamily="34" charset="-122"/>
                <a:cs typeface="Inter" pitchFamily="34" charset="-120"/>
              </a:rPr>
              <a:t>Age, body, level, days, injuries, goal</a:t>
            </a:r>
            <a:endParaRPr lang="en-US" sz="1200" dirty="0"/>
          </a:p>
        </p:txBody>
      </p:sp>
      <p:pic>
        <p:nvPicPr>
          <p:cNvPr id="8" name="Image 0" descr="connector">    </p:cNvPr>
          <p:cNvPicPr>
            <a:picLocks noChangeAspect="1"/>
          </p:cNvPicPr>
          <p:nvPr/>
        </p:nvPicPr>
        <p:blipFill>
          <a:blip r:embed="rId1"/>
          <a:srcRect l="0" r="0" t="0" b="0"/>
          <a:stretch/>
        </p:blipFill>
        <p:spPr>
          <a:xfrm>
            <a:off x="2358787" y="2037082"/>
            <a:ext cx="254000" cy="101600"/>
          </a:xfrm>
          <a:prstGeom prst="rect">
            <a:avLst/>
          </a:prstGeom>
        </p:spPr>
      </p:pic>
      <p:sp>
        <p:nvSpPr>
          <p:cNvPr id="9" name="Shape 6"/>
          <p:cNvSpPr/>
          <p:nvPr/>
        </p:nvSpPr>
        <p:spPr>
          <a:xfrm>
            <a:off x="2615962" y="2040257"/>
            <a:ext cx="1539716" cy="1720850"/>
          </a:xfrm>
          <a:prstGeom prst="roundRect">
            <a:avLst>
              <a:gd name="adj" fmla="val 9692"/>
            </a:avLst>
          </a:prstGeom>
          <a:solidFill>
            <a:srgbClr val="151E18"/>
          </a:solidFill>
          <a:ln w="6350">
            <a:solidFill>
              <a:srgbClr val="2A3830"/>
            </a:solidFill>
            <a:prstDash val="solid"/>
          </a:ln>
        </p:spPr>
      </p:sp>
      <p:sp>
        <p:nvSpPr>
          <p:cNvPr id="10" name="Text 7"/>
          <p:cNvSpPr/>
          <p:nvPr/>
        </p:nvSpPr>
        <p:spPr>
          <a:xfrm>
            <a:off x="2795667" y="2245361"/>
            <a:ext cx="12311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02</a:t>
            </a:r>
            <a:endParaRPr lang="en-US" sz="1200" dirty="0"/>
          </a:p>
        </p:txBody>
      </p:sp>
      <p:sp>
        <p:nvSpPr>
          <p:cNvPr id="11" name="Text 8"/>
          <p:cNvSpPr/>
          <p:nvPr/>
        </p:nvSpPr>
        <p:spPr>
          <a:xfrm>
            <a:off x="2795667" y="2560321"/>
            <a:ext cx="123110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Plan</a:t>
            </a:r>
            <a:endParaRPr lang="en-US" sz="1600" dirty="0"/>
          </a:p>
        </p:txBody>
      </p:sp>
      <p:sp>
        <p:nvSpPr>
          <p:cNvPr id="12" name="Text 9"/>
          <p:cNvSpPr/>
          <p:nvPr/>
        </p:nvSpPr>
        <p:spPr>
          <a:xfrm>
            <a:off x="2795667" y="2905761"/>
            <a:ext cx="123110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DBF"/>
                </a:solidFill>
                <a:latin typeface="Inter" pitchFamily="34" charset="0"/>
                <a:ea typeface="Inter" pitchFamily="34" charset="-122"/>
                <a:cs typeface="Inter" pitchFamily="34" charset="-120"/>
              </a:rPr>
              <a:t>A week built around your injuries</a:t>
            </a:r>
            <a:endParaRPr lang="en-US" sz="1200" dirty="0"/>
          </a:p>
        </p:txBody>
      </p:sp>
      <p:pic>
        <p:nvPicPr>
          <p:cNvPr id="13" name="Image 1" descr="connector">    </p:cNvPr>
          <p:cNvPicPr>
            <a:picLocks noChangeAspect="1"/>
          </p:cNvPicPr>
          <p:nvPr/>
        </p:nvPicPr>
        <p:blipFill>
          <a:blip r:embed="rId2"/>
          <a:srcRect l="0" r="0" t="0" b="0"/>
          <a:stretch/>
        </p:blipFill>
        <p:spPr>
          <a:xfrm>
            <a:off x="4158853" y="2037082"/>
            <a:ext cx="254000" cy="101600"/>
          </a:xfrm>
          <a:prstGeom prst="rect">
            <a:avLst/>
          </a:prstGeom>
        </p:spPr>
      </p:pic>
      <p:sp>
        <p:nvSpPr>
          <p:cNvPr id="14" name="Shape 10"/>
          <p:cNvSpPr/>
          <p:nvPr/>
        </p:nvSpPr>
        <p:spPr>
          <a:xfrm>
            <a:off x="4419203" y="2043432"/>
            <a:ext cx="1543447" cy="1714500"/>
          </a:xfrm>
          <a:prstGeom prst="roundRect">
            <a:avLst>
              <a:gd name="adj" fmla="val 9463"/>
            </a:avLst>
          </a:prstGeom>
          <a:solidFill>
            <a:srgbClr val="1B2A20"/>
          </a:solidFill>
          <a:ln w="12700">
            <a:solidFill>
              <a:srgbClr val="62C48E"/>
            </a:solidFill>
            <a:prstDash val="solid"/>
          </a:ln>
        </p:spPr>
      </p:sp>
      <p:sp>
        <p:nvSpPr>
          <p:cNvPr id="15" name="Text 11"/>
          <p:cNvSpPr/>
          <p:nvPr/>
        </p:nvSpPr>
        <p:spPr>
          <a:xfrm>
            <a:off x="4600813" y="2250439"/>
            <a:ext cx="12310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03</a:t>
            </a:r>
            <a:endParaRPr lang="en-US" sz="1200" dirty="0"/>
          </a:p>
        </p:txBody>
      </p:sp>
      <p:sp>
        <p:nvSpPr>
          <p:cNvPr id="16" name="Text 12"/>
          <p:cNvSpPr/>
          <p:nvPr/>
        </p:nvSpPr>
        <p:spPr>
          <a:xfrm>
            <a:off x="4600813" y="2565400"/>
            <a:ext cx="12310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Track</a:t>
            </a:r>
            <a:endParaRPr lang="en-US" sz="1600" dirty="0"/>
          </a:p>
        </p:txBody>
      </p:sp>
      <p:sp>
        <p:nvSpPr>
          <p:cNvPr id="17" name="Text 13"/>
          <p:cNvSpPr/>
          <p:nvPr/>
        </p:nvSpPr>
        <p:spPr>
          <a:xfrm>
            <a:off x="4600813" y="2910839"/>
            <a:ext cx="12310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DBF"/>
                </a:solidFill>
                <a:latin typeface="Inter" pitchFamily="34" charset="0"/>
                <a:ea typeface="Inter" pitchFamily="34" charset="-122"/>
                <a:cs typeface="Inter" pitchFamily="34" charset="-120"/>
              </a:rPr>
              <a:t>Camera reads your knee angle live</a:t>
            </a:r>
            <a:endParaRPr lang="en-US" sz="1200" dirty="0"/>
          </a:p>
        </p:txBody>
      </p:sp>
      <p:pic>
        <p:nvPicPr>
          <p:cNvPr id="18" name="Image 2" descr="connector">    </p:cNvPr>
          <p:cNvPicPr>
            <a:picLocks noChangeAspect="1"/>
          </p:cNvPicPr>
          <p:nvPr/>
        </p:nvPicPr>
        <p:blipFill>
          <a:blip r:embed="rId3"/>
          <a:srcRect l="0" r="0" t="0" b="0"/>
          <a:stretch/>
        </p:blipFill>
        <p:spPr>
          <a:xfrm>
            <a:off x="5969000" y="2037082"/>
            <a:ext cx="254000" cy="101600"/>
          </a:xfrm>
          <a:prstGeom prst="rect">
            <a:avLst/>
          </a:prstGeom>
        </p:spPr>
      </p:pic>
      <p:sp>
        <p:nvSpPr>
          <p:cNvPr id="19" name="Shape 14"/>
          <p:cNvSpPr/>
          <p:nvPr/>
        </p:nvSpPr>
        <p:spPr>
          <a:xfrm>
            <a:off x="6226175" y="2040257"/>
            <a:ext cx="1539716" cy="1720850"/>
          </a:xfrm>
          <a:prstGeom prst="roundRect">
            <a:avLst>
              <a:gd name="adj" fmla="val 9692"/>
            </a:avLst>
          </a:prstGeom>
          <a:solidFill>
            <a:srgbClr val="151E18"/>
          </a:solidFill>
          <a:ln w="6350">
            <a:solidFill>
              <a:srgbClr val="2A3830"/>
            </a:solidFill>
            <a:prstDash val="solid"/>
          </a:ln>
        </p:spPr>
      </p:sp>
      <p:sp>
        <p:nvSpPr>
          <p:cNvPr id="20" name="Text 15"/>
          <p:cNvSpPr/>
          <p:nvPr/>
        </p:nvSpPr>
        <p:spPr>
          <a:xfrm>
            <a:off x="6405880" y="2245361"/>
            <a:ext cx="12311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04</a:t>
            </a:r>
            <a:endParaRPr lang="en-US" sz="1200" dirty="0"/>
          </a:p>
        </p:txBody>
      </p:sp>
      <p:sp>
        <p:nvSpPr>
          <p:cNvPr id="21" name="Text 16"/>
          <p:cNvSpPr/>
          <p:nvPr/>
        </p:nvSpPr>
        <p:spPr>
          <a:xfrm>
            <a:off x="6405880" y="2560321"/>
            <a:ext cx="123110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Score</a:t>
            </a:r>
            <a:endParaRPr lang="en-US" sz="1600" dirty="0"/>
          </a:p>
        </p:txBody>
      </p:sp>
      <p:sp>
        <p:nvSpPr>
          <p:cNvPr id="22" name="Text 17"/>
          <p:cNvSpPr/>
          <p:nvPr/>
        </p:nvSpPr>
        <p:spPr>
          <a:xfrm>
            <a:off x="6405880" y="2905761"/>
            <a:ext cx="123110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DBF"/>
                </a:solidFill>
                <a:latin typeface="Inter" pitchFamily="34" charset="0"/>
                <a:ea typeface="Inter" pitchFamily="34" charset="-122"/>
                <a:cs typeface="Inter" pitchFamily="34" charset="-120"/>
              </a:rPr>
              <a:t>Form score from reps that hit depth</a:t>
            </a:r>
            <a:endParaRPr lang="en-US" sz="1200" dirty="0"/>
          </a:p>
        </p:txBody>
      </p:sp>
      <p:pic>
        <p:nvPicPr>
          <p:cNvPr id="23" name="Image 3" descr="connector">    </p:cNvPr>
          <p:cNvPicPr>
            <a:picLocks noChangeAspect="1"/>
          </p:cNvPicPr>
          <p:nvPr/>
        </p:nvPicPr>
        <p:blipFill>
          <a:blip r:embed="rId4"/>
          <a:srcRect l="0" r="0" t="0" b="0"/>
          <a:stretch/>
        </p:blipFill>
        <p:spPr>
          <a:xfrm>
            <a:off x="7769066" y="2037082"/>
            <a:ext cx="254000" cy="101600"/>
          </a:xfrm>
          <a:prstGeom prst="rect">
            <a:avLst/>
          </a:prstGeom>
        </p:spPr>
      </p:pic>
      <p:sp>
        <p:nvSpPr>
          <p:cNvPr id="24" name="Shape 18"/>
          <p:cNvSpPr/>
          <p:nvPr/>
        </p:nvSpPr>
        <p:spPr>
          <a:xfrm>
            <a:off x="8026241" y="2040257"/>
            <a:ext cx="1539637" cy="1720850"/>
          </a:xfrm>
          <a:prstGeom prst="roundRect">
            <a:avLst>
              <a:gd name="adj" fmla="val 9692"/>
            </a:avLst>
          </a:prstGeom>
          <a:solidFill>
            <a:srgbClr val="151E18"/>
          </a:solidFill>
          <a:ln w="6350">
            <a:solidFill>
              <a:srgbClr val="2A3830"/>
            </a:solidFill>
            <a:prstDash val="solid"/>
          </a:ln>
        </p:spPr>
      </p:sp>
      <p:sp>
        <p:nvSpPr>
          <p:cNvPr id="25" name="Text 19"/>
          <p:cNvSpPr/>
          <p:nvPr/>
        </p:nvSpPr>
        <p:spPr>
          <a:xfrm>
            <a:off x="8205946" y="2245361"/>
            <a:ext cx="12310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05</a:t>
            </a:r>
            <a:endParaRPr lang="en-US" sz="1200" dirty="0"/>
          </a:p>
        </p:txBody>
      </p:sp>
      <p:sp>
        <p:nvSpPr>
          <p:cNvPr id="26" name="Text 20"/>
          <p:cNvSpPr/>
          <p:nvPr/>
        </p:nvSpPr>
        <p:spPr>
          <a:xfrm>
            <a:off x="8205946" y="2560321"/>
            <a:ext cx="12310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Adapt</a:t>
            </a:r>
            <a:endParaRPr lang="en-US" sz="1600" dirty="0"/>
          </a:p>
        </p:txBody>
      </p:sp>
      <p:sp>
        <p:nvSpPr>
          <p:cNvPr id="27" name="Text 21"/>
          <p:cNvSpPr/>
          <p:nvPr/>
        </p:nvSpPr>
        <p:spPr>
          <a:xfrm>
            <a:off x="8205946" y="2905761"/>
            <a:ext cx="12310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DBF"/>
                </a:solidFill>
                <a:latin typeface="Inter" pitchFamily="34" charset="0"/>
                <a:ea typeface="Inter" pitchFamily="34" charset="-122"/>
                <a:cs typeface="Inter" pitchFamily="34" charset="-120"/>
              </a:rPr>
              <a:t>Next session goes up, holds or deloads</a:t>
            </a:r>
            <a:endParaRPr lang="en-US" sz="1200" dirty="0"/>
          </a:p>
        </p:txBody>
      </p:sp>
      <p:pic>
        <p:nvPicPr>
          <p:cNvPr id="28" name="Image 4" descr="connector">    </p:cNvPr>
          <p:cNvPicPr>
            <a:picLocks noChangeAspect="1"/>
          </p:cNvPicPr>
          <p:nvPr/>
        </p:nvPicPr>
        <p:blipFill>
          <a:blip r:embed="rId5"/>
          <a:srcRect l="0" r="0" t="0" b="0"/>
          <a:stretch/>
        </p:blipFill>
        <p:spPr>
          <a:xfrm>
            <a:off x="9569053" y="2037082"/>
            <a:ext cx="254000" cy="101600"/>
          </a:xfrm>
          <a:prstGeom prst="rect">
            <a:avLst/>
          </a:prstGeom>
        </p:spPr>
      </p:pic>
      <p:sp>
        <p:nvSpPr>
          <p:cNvPr id="29" name="Shape 22"/>
          <p:cNvSpPr/>
          <p:nvPr/>
        </p:nvSpPr>
        <p:spPr>
          <a:xfrm>
            <a:off x="9829403" y="2043432"/>
            <a:ext cx="1543447" cy="1714500"/>
          </a:xfrm>
          <a:prstGeom prst="roundRect">
            <a:avLst>
              <a:gd name="adj" fmla="val 9463"/>
            </a:avLst>
          </a:prstGeom>
          <a:solidFill>
            <a:srgbClr val="221D12"/>
          </a:solidFill>
          <a:ln w="12700">
            <a:solidFill>
              <a:srgbClr val="D4BC8C"/>
            </a:solidFill>
            <a:prstDash val="solid"/>
          </a:ln>
        </p:spPr>
      </p:sp>
      <p:sp>
        <p:nvSpPr>
          <p:cNvPr id="30" name="Text 23"/>
          <p:cNvSpPr/>
          <p:nvPr/>
        </p:nvSpPr>
        <p:spPr>
          <a:xfrm>
            <a:off x="10011013" y="2250439"/>
            <a:ext cx="12310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4BC8C"/>
                </a:solidFill>
                <a:latin typeface="JetBrains Mono" pitchFamily="49" charset="0"/>
                <a:ea typeface="JetBrains Mono" pitchFamily="49" charset="-122"/>
                <a:cs typeface="JetBrains Mono" pitchFamily="49" charset="-120"/>
              </a:rPr>
              <a:t>06</a:t>
            </a:r>
            <a:endParaRPr lang="en-US" sz="1200" dirty="0"/>
          </a:p>
        </p:txBody>
      </p:sp>
      <p:sp>
        <p:nvSpPr>
          <p:cNvPr id="31" name="Text 24"/>
          <p:cNvSpPr/>
          <p:nvPr/>
        </p:nvSpPr>
        <p:spPr>
          <a:xfrm>
            <a:off x="10011013" y="2565400"/>
            <a:ext cx="12310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Reward</a:t>
            </a:r>
            <a:endParaRPr lang="en-US" sz="1600" dirty="0"/>
          </a:p>
        </p:txBody>
      </p:sp>
      <p:sp>
        <p:nvSpPr>
          <p:cNvPr id="32" name="Text 25"/>
          <p:cNvSpPr/>
          <p:nvPr/>
        </p:nvSpPr>
        <p:spPr>
          <a:xfrm>
            <a:off x="10011013" y="2910839"/>
            <a:ext cx="12310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DBF"/>
                </a:solidFill>
                <a:latin typeface="Inter" pitchFamily="34" charset="0"/>
                <a:ea typeface="Inter" pitchFamily="34" charset="-122"/>
                <a:cs typeface="Inter" pitchFamily="34" charset="-120"/>
              </a:rPr>
              <a:t>Clean reps become bank points</a:t>
            </a:r>
            <a:endParaRPr lang="en-US" sz="1200" dirty="0"/>
          </a:p>
        </p:txBody>
      </p:sp>
      <p:sp>
        <p:nvSpPr>
          <p:cNvPr id="33" name="Text 26"/>
          <p:cNvSpPr/>
          <p:nvPr/>
        </p:nvSpPr>
        <p:spPr>
          <a:xfrm>
            <a:off x="812800" y="417068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4A598"/>
                </a:solidFill>
                <a:latin typeface="Inter" pitchFamily="34" charset="0"/>
                <a:ea typeface="Inter" pitchFamily="34" charset="-122"/>
                <a:cs typeface="Inter" pitchFamily="34" charset="-120"/>
              </a:rPr>
              <a:t>Every step is live in the app on GitHub: Next.js, on-device pose tracking, rule-based plans.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67320" y="0"/>
            <a:ext cx="3662680" cy="2565400"/>
          </a:xfrm>
          <a:prstGeom prst="rect">
            <a:avLst/>
          </a:prstGeom>
          <a:noFill/>
          <a:ln/>
        </p:spPr>
        <p:txBody>
          <a:bodyPr wrap="square" lIns="0" tIns="0" rIns="0" bIns="0" rtlCol="0" anchor="t">
            <a:normAutofit/>
          </a:bodyPr>
          <a:lstStyle/>
          <a:p>
            <a:pPr algn="r" indent="0" marL="0">
              <a:lnSpc>
                <a:spcPts val="20000"/>
              </a:lnSpc>
              <a:buNone/>
            </a:pPr>
            <a:r>
              <a:rPr lang="en-US" sz="20000" b="1" dirty="0">
                <a:solidFill>
                  <a:srgbClr val="62C48E">
                    <a:alpha val="7000"/>
                  </a:srgbClr>
                </a:solidFill>
                <a:latin typeface="Cinzel" pitchFamily="18" charset="0"/>
                <a:ea typeface="Cinzel" pitchFamily="18" charset="-122"/>
                <a:cs typeface="Cinzel" pitchFamily="18" charset="-120"/>
              </a:rPr>
              <a:t>I</a:t>
            </a:r>
            <a:endParaRPr lang="en-US" sz="20000" dirty="0"/>
          </a:p>
        </p:txBody>
      </p:sp>
      <p:sp>
        <p:nvSpPr>
          <p:cNvPr id="3" name="Text 1"/>
          <p:cNvSpPr/>
          <p:nvPr/>
        </p:nvSpPr>
        <p:spPr>
          <a:xfrm>
            <a:off x="812800" y="609600"/>
            <a:ext cx="528523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62C48E"/>
                </a:solidFill>
                <a:latin typeface="JetBrains Mono" pitchFamily="49" charset="0"/>
                <a:ea typeface="JetBrains Mono" pitchFamily="49" charset="-122"/>
                <a:cs typeface="JetBrains Mono" pitchFamily="49" charset="-120"/>
              </a:rPr>
              <a:t>THE APP IN 8 SCREENS · ACT I OF II</a:t>
            </a:r>
            <a:endParaRPr lang="en-US" sz="1200" dirty="0"/>
          </a:p>
        </p:txBody>
      </p:sp>
      <p:sp>
        <p:nvSpPr>
          <p:cNvPr id="4" name="Text 2"/>
          <p:cNvSpPr/>
          <p:nvPr>
            <p:ph type="title"/>
          </p:nvPr>
        </p:nvSpPr>
        <p:spPr>
          <a:xfrm>
            <a:off x="812800" y="886461"/>
            <a:ext cx="4536491"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3E8"/>
                </a:solidFill>
                <a:latin typeface="Sora" pitchFamily="34" charset="0"/>
                <a:ea typeface="Sora" pitchFamily="34" charset="-122"/>
                <a:cs typeface="Sora" pitchFamily="34" charset="-120"/>
              </a:rPr>
              <a:t>Train smarter</a:t>
            </a:r>
            <a:endParaRPr lang="en-US" sz="3200" dirty="0"/>
          </a:p>
        </p:txBody>
      </p:sp>
      <p:sp>
        <p:nvSpPr>
          <p:cNvPr id="5" name="Text 3"/>
          <p:cNvSpPr/>
          <p:nvPr/>
        </p:nvSpPr>
        <p:spPr>
          <a:xfrm>
            <a:off x="8384064" y="986157"/>
            <a:ext cx="1245394" cy="344170"/>
          </a:xfrm>
          <a:prstGeom prst="roundRect">
            <a:avLst>
              <a:gd name="adj" fmla="val 50000"/>
            </a:avLst>
          </a:prstGeom>
          <a:noFill/>
          <a:ln w="6350">
            <a:solidFill>
              <a:srgbClr val="3E5A48"/>
            </a:solidFill>
            <a:prstDash val="solid"/>
          </a:ln>
        </p:spPr>
        <p:txBody>
          <a:bodyPr wrap="none" lIns="0" tIns="0" rIns="0" bIns="0" rtlCol="0" anchor="ctr">
            <a:normAutofit/>
          </a:bodyPr>
          <a:lstStyle/>
          <a:p>
            <a:pPr algn="ctr" indent="0" marL="0">
              <a:lnSpc>
                <a:spcPts val="1680"/>
              </a:lnSpc>
              <a:buNone/>
            </a:pPr>
            <a:r>
              <a:rPr lang="en-US" sz="1200" dirty="0">
                <a:solidFill>
                  <a:srgbClr val="C9D6C5"/>
                </a:solidFill>
                <a:latin typeface="Inter" pitchFamily="34" charset="0"/>
                <a:ea typeface="Inter" pitchFamily="34" charset="-122"/>
                <a:cs typeface="Inter" pitchFamily="34" charset="-120"/>
              </a:rPr>
              <a:t>عربي + English</a:t>
            </a:r>
            <a:endParaRPr lang="en-US" sz="1200" dirty="0"/>
          </a:p>
        </p:txBody>
      </p:sp>
      <p:sp>
        <p:nvSpPr>
          <p:cNvPr id="6" name="Text 4"/>
          <p:cNvSpPr/>
          <p:nvPr/>
        </p:nvSpPr>
        <p:spPr>
          <a:xfrm>
            <a:off x="9712008" y="986157"/>
            <a:ext cx="1664018" cy="344170"/>
          </a:xfrm>
          <a:prstGeom prst="roundRect">
            <a:avLst>
              <a:gd name="adj" fmla="val 50000"/>
            </a:avLst>
          </a:prstGeom>
          <a:noFill/>
          <a:ln w="6350">
            <a:solidFill>
              <a:srgbClr val="3E5A48"/>
            </a:solidFill>
            <a:prstDash val="solid"/>
          </a:ln>
        </p:spPr>
        <p:txBody>
          <a:bodyPr wrap="none" lIns="0" tIns="0" rIns="0" bIns="0" rtlCol="0" anchor="ctr">
            <a:normAutofit/>
          </a:bodyPr>
          <a:lstStyle/>
          <a:p>
            <a:pPr algn="ctr" indent="0" marL="0">
              <a:lnSpc>
                <a:spcPts val="1680"/>
              </a:lnSpc>
              <a:buNone/>
            </a:pPr>
            <a:r>
              <a:rPr lang="en-US" sz="1200" dirty="0">
                <a:solidFill>
                  <a:srgbClr val="C9D6C5"/>
                </a:solidFill>
                <a:latin typeface="Inter" pitchFamily="34" charset="0"/>
                <a:ea typeface="Inter" pitchFamily="34" charset="-122"/>
                <a:cs typeface="Inter" pitchFamily="34" charset="-120"/>
              </a:rPr>
              <a:t>Any phone browser</a:t>
            </a:r>
            <a:endParaRPr lang="en-US" sz="1200" dirty="0"/>
          </a:p>
        </p:txBody>
      </p:sp>
      <p:pic>
        <p:nvPicPr>
          <p:cNvPr id="7" name="Image 0" descr="Home screen: greeting, 5-day streak, 4,850 points, Emergency Assist SOS and Start AI Workout for Push Day">    </p:cNvPr>
          <p:cNvPicPr>
            <a:picLocks noChangeAspect="1"/>
          </p:cNvPicPr>
          <p:nvPr/>
        </p:nvPicPr>
        <p:blipFill>
          <a:blip r:embed="rId1"/>
          <a:srcRect l="0" r="0" t="392" b="392"/>
          <a:stretch/>
        </p:blipFill>
        <p:spPr>
          <a:xfrm rot="21420000">
            <a:off x="1257300" y="1536700"/>
            <a:ext cx="1524000" cy="2921000"/>
          </a:xfrm>
          <a:prstGeom prst="roundRect">
            <a:avLst>
              <a:gd name="adj" fmla="val 14167"/>
            </a:avLst>
          </a:prstGeom>
          <a:effectLst>
            <a:outerShdw sx="100000" sy="100000" kx="0" ky="0" algn="bl" rotWithShape="0" blurRad="381000" dist="190500" dir="5400000">
              <a:srgbClr val="000000">
                <a:alpha val="60000"/>
              </a:srgbClr>
            </a:outerShdw>
          </a:effectLst>
        </p:spPr>
      </p:pic>
      <p:sp>
        <p:nvSpPr>
          <p:cNvPr id="8" name="Text 5"/>
          <p:cNvSpPr/>
          <p:nvPr/>
        </p:nvSpPr>
        <p:spPr>
          <a:xfrm>
            <a:off x="812800" y="46101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01 · Home</a:t>
            </a:r>
            <a:endParaRPr lang="en-US" sz="1200" dirty="0"/>
          </a:p>
        </p:txBody>
      </p:sp>
      <p:sp>
        <p:nvSpPr>
          <p:cNvPr id="9" name="Text 6"/>
          <p:cNvSpPr/>
          <p:nvPr/>
        </p:nvSpPr>
        <p:spPr>
          <a:xfrm>
            <a:off x="812800" y="4861561"/>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3E8"/>
                </a:solidFill>
                <a:latin typeface="Sora" pitchFamily="34" charset="0"/>
                <a:ea typeface="Sora" pitchFamily="34" charset="-122"/>
                <a:cs typeface="Sora" pitchFamily="34" charset="-120"/>
              </a:rPr>
              <a:t>Your day, one glance</a:t>
            </a:r>
            <a:endParaRPr lang="en-US" sz="1400" dirty="0"/>
          </a:p>
        </p:txBody>
      </p:sp>
      <p:sp>
        <p:nvSpPr>
          <p:cNvPr id="10" name="Text 7"/>
          <p:cNvSpPr/>
          <p:nvPr/>
        </p:nvSpPr>
        <p:spPr>
          <a:xfrm>
            <a:off x="812800" y="5113021"/>
            <a:ext cx="248539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DBF"/>
                </a:solidFill>
                <a:latin typeface="Inter" pitchFamily="34" charset="0"/>
                <a:ea typeface="Inter" pitchFamily="34" charset="-122"/>
                <a:cs typeface="Inter" pitchFamily="34" charset="-120"/>
              </a:rPr>
              <a:t>5-day streak, 4,850 Fit Points, today's Push Day and SOS one tap away.</a:t>
            </a:r>
            <a:endParaRPr lang="en-US" sz="1200" dirty="0"/>
          </a:p>
        </p:txBody>
      </p:sp>
      <p:pic>
        <p:nvPicPr>
          <p:cNvPr id="11" name="Image 1" descr="AI skeleton tracking: an athlete squatting with joint angles 78 and 93 degrees, 8 of 12 reps, 94% form accuracy and plus 150 points">    </p:cNvPr>
          <p:cNvPicPr>
            <a:picLocks noChangeAspect="1"/>
          </p:cNvPicPr>
          <p:nvPr/>
        </p:nvPicPr>
        <p:blipFill>
          <a:blip r:embed="rId2"/>
          <a:srcRect l="198" r="198" t="0" b="0"/>
          <a:stretch/>
        </p:blipFill>
        <p:spPr>
          <a:xfrm rot="180000">
            <a:off x="3975100" y="1790700"/>
            <a:ext cx="1524000" cy="2921000"/>
          </a:xfrm>
          <a:prstGeom prst="roundRect">
            <a:avLst>
              <a:gd name="adj" fmla="val 14167"/>
            </a:avLst>
          </a:prstGeom>
          <a:effectLst>
            <a:outerShdw sx="100000" sy="100000" kx="0" ky="0" algn="bl" rotWithShape="0" blurRad="381000" dist="190500" dir="5400000">
              <a:srgbClr val="000000">
                <a:alpha val="60000"/>
              </a:srgbClr>
            </a:outerShdw>
          </a:effectLst>
        </p:spPr>
      </p:pic>
      <p:sp>
        <p:nvSpPr>
          <p:cNvPr id="12" name="Text 8"/>
          <p:cNvSpPr/>
          <p:nvPr/>
        </p:nvSpPr>
        <p:spPr>
          <a:xfrm>
            <a:off x="3530600" y="48641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02 · AI tracker</a:t>
            </a:r>
            <a:endParaRPr lang="en-US" sz="1200" dirty="0"/>
          </a:p>
        </p:txBody>
      </p:sp>
      <p:sp>
        <p:nvSpPr>
          <p:cNvPr id="13" name="Text 9"/>
          <p:cNvSpPr/>
          <p:nvPr/>
        </p:nvSpPr>
        <p:spPr>
          <a:xfrm>
            <a:off x="3530600" y="5115561"/>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3E8"/>
                </a:solidFill>
                <a:latin typeface="Sora" pitchFamily="34" charset="0"/>
                <a:ea typeface="Sora" pitchFamily="34" charset="-122"/>
                <a:cs typeface="Sora" pitchFamily="34" charset="-120"/>
              </a:rPr>
              <a:t>Eyes on every rep</a:t>
            </a:r>
            <a:endParaRPr lang="en-US" sz="1400" dirty="0"/>
          </a:p>
        </p:txBody>
      </p:sp>
      <p:sp>
        <p:nvSpPr>
          <p:cNvPr id="14" name="Text 10"/>
          <p:cNvSpPr/>
          <p:nvPr/>
        </p:nvSpPr>
        <p:spPr>
          <a:xfrm>
            <a:off x="3530600" y="5367021"/>
            <a:ext cx="248539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DBF"/>
                </a:solidFill>
                <a:latin typeface="Inter" pitchFamily="34" charset="0"/>
                <a:ea typeface="Inter" pitchFamily="34" charset="-122"/>
                <a:cs typeface="Inter" pitchFamily="34" charset="-120"/>
              </a:rPr>
              <a:t>Live joint angles, 8 of 12 reps, 94% form and +150 points mid-set.</a:t>
            </a:r>
            <a:endParaRPr lang="en-US" sz="1200" dirty="0"/>
          </a:p>
        </p:txBody>
      </p:sp>
      <p:pic>
        <p:nvPicPr>
          <p:cNvPr id="15" name="Image 2" descr="Workout summary: Hero Session Completed, plus 150 points, 92% average accuracy, 12 minutes, 110 kcal, AI form analysis and next-session advice">    </p:cNvPr>
          <p:cNvPicPr>
            <a:picLocks noChangeAspect="1"/>
          </p:cNvPicPr>
          <p:nvPr/>
        </p:nvPicPr>
        <p:blipFill>
          <a:blip r:embed="rId3"/>
          <a:srcRect l="0" r="0" t="1144" b="1144"/>
          <a:stretch/>
        </p:blipFill>
        <p:spPr>
          <a:xfrm rot="21420000">
            <a:off x="6692900" y="1536700"/>
            <a:ext cx="1524000" cy="2921000"/>
          </a:xfrm>
          <a:prstGeom prst="roundRect">
            <a:avLst>
              <a:gd name="adj" fmla="val 14167"/>
            </a:avLst>
          </a:prstGeom>
          <a:effectLst>
            <a:outerShdw sx="100000" sy="100000" kx="0" ky="0" algn="bl" rotWithShape="0" blurRad="381000" dist="190500" dir="5400000">
              <a:srgbClr val="000000">
                <a:alpha val="60000"/>
              </a:srgbClr>
            </a:outerShdw>
          </a:effectLst>
        </p:spPr>
      </p:pic>
      <p:sp>
        <p:nvSpPr>
          <p:cNvPr id="16" name="Text 11"/>
          <p:cNvSpPr/>
          <p:nvPr/>
        </p:nvSpPr>
        <p:spPr>
          <a:xfrm>
            <a:off x="6248400" y="46101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03 · Summary</a:t>
            </a:r>
            <a:endParaRPr lang="en-US" sz="1200" dirty="0"/>
          </a:p>
        </p:txBody>
      </p:sp>
      <p:sp>
        <p:nvSpPr>
          <p:cNvPr id="17" name="Text 12"/>
          <p:cNvSpPr/>
          <p:nvPr/>
        </p:nvSpPr>
        <p:spPr>
          <a:xfrm>
            <a:off x="6248400" y="4861561"/>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3E8"/>
                </a:solidFill>
                <a:latin typeface="Sora" pitchFamily="34" charset="0"/>
                <a:ea typeface="Sora" pitchFamily="34" charset="-122"/>
                <a:cs typeface="Sora" pitchFamily="34" charset="-120"/>
              </a:rPr>
              <a:t>Instant report card</a:t>
            </a:r>
            <a:endParaRPr lang="en-US" sz="1400" dirty="0"/>
          </a:p>
        </p:txBody>
      </p:sp>
      <p:sp>
        <p:nvSpPr>
          <p:cNvPr id="18" name="Text 13"/>
          <p:cNvSpPr/>
          <p:nvPr/>
        </p:nvSpPr>
        <p:spPr>
          <a:xfrm>
            <a:off x="6248400" y="5113021"/>
            <a:ext cx="248539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DBF"/>
                </a:solidFill>
                <a:latin typeface="Inter" pitchFamily="34" charset="0"/>
                <a:ea typeface="Inter" pitchFamily="34" charset="-122"/>
                <a:cs typeface="Inter" pitchFamily="34" charset="-120"/>
              </a:rPr>
              <a:t>+150 pts, 92% form score, an AI form analysis and next-session advice.</a:t>
            </a:r>
            <a:endParaRPr lang="en-US" sz="1200" dirty="0"/>
          </a:p>
        </p:txBody>
      </p:sp>
      <p:pic>
        <p:nvPicPr>
          <p:cNvPr id="19" name="Image 3" descr="My Profile and AI Plan: 78 kg, 177 cm, 24 years, build muscle, 4 days a week, 2,400 kcal nutrition and today's Push Day">    </p:cNvPr>
          <p:cNvPicPr>
            <a:picLocks noChangeAspect="1"/>
          </p:cNvPicPr>
          <p:nvPr/>
        </p:nvPicPr>
        <p:blipFill>
          <a:blip r:embed="rId4"/>
          <a:srcRect l="0" r="0" t="562" b="562"/>
          <a:stretch/>
        </p:blipFill>
        <p:spPr>
          <a:xfrm rot="180000">
            <a:off x="9410700" y="1790700"/>
            <a:ext cx="1524000" cy="2921000"/>
          </a:xfrm>
          <a:prstGeom prst="roundRect">
            <a:avLst>
              <a:gd name="adj" fmla="val 14167"/>
            </a:avLst>
          </a:prstGeom>
          <a:effectLst>
            <a:outerShdw sx="100000" sy="100000" kx="0" ky="0" algn="bl" rotWithShape="0" blurRad="381000" dist="190500" dir="5400000">
              <a:srgbClr val="000000">
                <a:alpha val="60000"/>
              </a:srgbClr>
            </a:outerShdw>
          </a:effectLst>
        </p:spPr>
      </p:pic>
      <p:sp>
        <p:nvSpPr>
          <p:cNvPr id="20" name="Text 14"/>
          <p:cNvSpPr/>
          <p:nvPr/>
        </p:nvSpPr>
        <p:spPr>
          <a:xfrm>
            <a:off x="8966200" y="48641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04 · Profile &amp; plan</a:t>
            </a:r>
            <a:endParaRPr lang="en-US" sz="1200" dirty="0"/>
          </a:p>
        </p:txBody>
      </p:sp>
      <p:sp>
        <p:nvSpPr>
          <p:cNvPr id="21" name="Text 15"/>
          <p:cNvSpPr/>
          <p:nvPr/>
        </p:nvSpPr>
        <p:spPr>
          <a:xfrm>
            <a:off x="8966200" y="5115561"/>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3E8"/>
                </a:solidFill>
                <a:latin typeface="Sora" pitchFamily="34" charset="0"/>
                <a:ea typeface="Sora" pitchFamily="34" charset="-122"/>
                <a:cs typeface="Sora" pitchFamily="34" charset="-120"/>
              </a:rPr>
              <a:t>Built from your body</a:t>
            </a:r>
            <a:endParaRPr lang="en-US" sz="1400" dirty="0"/>
          </a:p>
        </p:txBody>
      </p:sp>
      <p:sp>
        <p:nvSpPr>
          <p:cNvPr id="22" name="Text 16"/>
          <p:cNvSpPr/>
          <p:nvPr/>
        </p:nvSpPr>
        <p:spPr>
          <a:xfrm>
            <a:off x="8966200" y="5367021"/>
            <a:ext cx="248539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DBF"/>
                </a:solidFill>
                <a:latin typeface="Inter" pitchFamily="34" charset="0"/>
                <a:ea typeface="Inter" pitchFamily="34" charset="-122"/>
                <a:cs typeface="Inter" pitchFamily="34" charset="-120"/>
              </a:rPr>
              <a:t>Age, height, weight, level and free days shape a weekly AI plan.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767320" y="0"/>
            <a:ext cx="3662680" cy="2565400"/>
          </a:xfrm>
          <a:prstGeom prst="rect">
            <a:avLst/>
          </a:prstGeom>
          <a:noFill/>
          <a:ln/>
        </p:spPr>
        <p:txBody>
          <a:bodyPr wrap="square" lIns="0" tIns="0" rIns="0" bIns="0" rtlCol="0" anchor="t">
            <a:normAutofit/>
          </a:bodyPr>
          <a:lstStyle/>
          <a:p>
            <a:pPr algn="r" indent="0" marL="0">
              <a:lnSpc>
                <a:spcPts val="20000"/>
              </a:lnSpc>
              <a:buNone/>
            </a:pPr>
            <a:r>
              <a:rPr lang="en-US" sz="20000" b="1" dirty="0">
                <a:solidFill>
                  <a:srgbClr val="D4BC8C">
                    <a:alpha val="8000"/>
                  </a:srgbClr>
                </a:solidFill>
                <a:latin typeface="Cinzel" pitchFamily="18" charset="0"/>
                <a:ea typeface="Cinzel" pitchFamily="18" charset="-122"/>
                <a:cs typeface="Cinzel" pitchFamily="18" charset="-120"/>
              </a:rPr>
              <a:t>II</a:t>
            </a:r>
            <a:endParaRPr lang="en-US" sz="20000" dirty="0"/>
          </a:p>
        </p:txBody>
      </p:sp>
      <p:sp>
        <p:nvSpPr>
          <p:cNvPr id="3" name="Text 1"/>
          <p:cNvSpPr/>
          <p:nvPr/>
        </p:nvSpPr>
        <p:spPr>
          <a:xfrm>
            <a:off x="812800" y="609600"/>
            <a:ext cx="5020243"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D4BC8C"/>
                </a:solidFill>
                <a:latin typeface="JetBrains Mono" pitchFamily="49" charset="0"/>
                <a:ea typeface="JetBrains Mono" pitchFamily="49" charset="-122"/>
                <a:cs typeface="JetBrains Mono" pitchFamily="49" charset="-120"/>
              </a:rPr>
              <a:t>THE APP IN 8 SCREENS · ACT II OF II</a:t>
            </a:r>
            <a:endParaRPr lang="en-US" sz="1200" dirty="0"/>
          </a:p>
        </p:txBody>
      </p:sp>
      <p:sp>
        <p:nvSpPr>
          <p:cNvPr id="4" name="Text 2"/>
          <p:cNvSpPr/>
          <p:nvPr>
            <p:ph type="title"/>
          </p:nvPr>
        </p:nvSpPr>
        <p:spPr>
          <a:xfrm>
            <a:off x="812800" y="886461"/>
            <a:ext cx="5848826"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EEE2"/>
                </a:solidFill>
                <a:latin typeface="Sora" pitchFamily="34" charset="0"/>
                <a:ea typeface="Sora" pitchFamily="34" charset="-122"/>
                <a:cs typeface="Sora" pitchFamily="34" charset="-120"/>
              </a:rPr>
              <a:t>Get rewarded, stay safe</a:t>
            </a:r>
            <a:endParaRPr lang="en-US" sz="3200" dirty="0"/>
          </a:p>
        </p:txBody>
      </p:sp>
      <p:sp>
        <p:nvSpPr>
          <p:cNvPr id="5" name="Text 3"/>
          <p:cNvSpPr/>
          <p:nvPr/>
        </p:nvSpPr>
        <p:spPr>
          <a:xfrm>
            <a:off x="8738474" y="986157"/>
            <a:ext cx="1046718" cy="344170"/>
          </a:xfrm>
          <a:prstGeom prst="roundRect">
            <a:avLst>
              <a:gd name="adj" fmla="val 50000"/>
            </a:avLst>
          </a:prstGeom>
          <a:noFill/>
          <a:ln w="6350">
            <a:solidFill>
              <a:srgbClr val="6A5838"/>
            </a:solidFill>
            <a:prstDash val="solid"/>
          </a:ln>
        </p:spPr>
        <p:txBody>
          <a:bodyPr wrap="none" lIns="0" tIns="0" rIns="0" bIns="0" rtlCol="0" anchor="ctr">
            <a:normAutofit/>
          </a:bodyPr>
          <a:lstStyle/>
          <a:p>
            <a:pPr algn="ctr" indent="0" marL="0">
              <a:lnSpc>
                <a:spcPts val="1680"/>
              </a:lnSpc>
              <a:buNone/>
            </a:pPr>
            <a:r>
              <a:rPr lang="en-US" sz="1200" dirty="0">
                <a:solidFill>
                  <a:srgbClr val="D9CFB8"/>
                </a:solidFill>
                <a:latin typeface="Inter" pitchFamily="34" charset="0"/>
                <a:ea typeface="Inter" pitchFamily="34" charset="-122"/>
                <a:cs typeface="Inter" pitchFamily="34" charset="-120"/>
              </a:rPr>
              <a:t>Dark mode</a:t>
            </a:r>
            <a:endParaRPr lang="en-US" sz="1200" dirty="0"/>
          </a:p>
        </p:txBody>
      </p:sp>
      <p:sp>
        <p:nvSpPr>
          <p:cNvPr id="6" name="Text 4"/>
          <p:cNvSpPr/>
          <p:nvPr/>
        </p:nvSpPr>
        <p:spPr>
          <a:xfrm>
            <a:off x="9867741" y="986157"/>
            <a:ext cx="1508284" cy="344170"/>
          </a:xfrm>
          <a:prstGeom prst="roundRect">
            <a:avLst>
              <a:gd name="adj" fmla="val 50000"/>
            </a:avLst>
          </a:prstGeom>
          <a:noFill/>
          <a:ln w="6350">
            <a:solidFill>
              <a:srgbClr val="6A5838"/>
            </a:solidFill>
            <a:prstDash val="solid"/>
          </a:ln>
        </p:spPr>
        <p:txBody>
          <a:bodyPr wrap="none" lIns="0" tIns="0" rIns="0" bIns="0" rtlCol="0" anchor="ctr">
            <a:normAutofit/>
          </a:bodyPr>
          <a:lstStyle/>
          <a:p>
            <a:pPr algn="ctr" indent="0" marL="0">
              <a:lnSpc>
                <a:spcPts val="1680"/>
              </a:lnSpc>
              <a:buNone/>
            </a:pPr>
            <a:r>
              <a:rPr lang="en-US" sz="1200" dirty="0">
                <a:solidFill>
                  <a:srgbClr val="D9CFB8"/>
                </a:solidFill>
                <a:latin typeface="Inter" pitchFamily="34" charset="0"/>
                <a:ea typeface="Inter" pitchFamily="34" charset="-122"/>
                <a:cs typeface="Inter" pitchFamily="34" charset="-120"/>
              </a:rPr>
              <a:t>One-hand design</a:t>
            </a:r>
            <a:endParaRPr lang="en-US" sz="1200" dirty="0"/>
          </a:p>
        </p:txBody>
      </p:sp>
      <p:pic>
        <p:nvPicPr>
          <p:cNvPr id="7" name="Image 0" descr="Rewards and Redemptions: 4,850 points, convert 1,000 points to 100 bank points, local deals from 800 points">    </p:cNvPr>
          <p:cNvPicPr>
            <a:picLocks noChangeAspect="1"/>
          </p:cNvPicPr>
          <p:nvPr/>
        </p:nvPicPr>
        <p:blipFill>
          <a:blip r:embed="rId1"/>
          <a:srcRect l="572" r="572" t="0" b="0"/>
          <a:stretch/>
        </p:blipFill>
        <p:spPr>
          <a:xfrm rot="21420000">
            <a:off x="1257300" y="1536700"/>
            <a:ext cx="1524000" cy="2921000"/>
          </a:xfrm>
          <a:prstGeom prst="roundRect">
            <a:avLst>
              <a:gd name="adj" fmla="val 14167"/>
            </a:avLst>
          </a:prstGeom>
          <a:effectLst>
            <a:outerShdw sx="100000" sy="100000" kx="0" ky="0" algn="bl" rotWithShape="0" blurRad="381000" dist="190500" dir="5400000">
              <a:srgbClr val="000000">
                <a:alpha val="60000"/>
              </a:srgbClr>
            </a:outerShdw>
          </a:effectLst>
        </p:spPr>
      </p:pic>
      <p:sp>
        <p:nvSpPr>
          <p:cNvPr id="8" name="Text 5"/>
          <p:cNvSpPr/>
          <p:nvPr/>
        </p:nvSpPr>
        <p:spPr>
          <a:xfrm>
            <a:off x="812800" y="46101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C98E"/>
                </a:solidFill>
                <a:latin typeface="JetBrains Mono" pitchFamily="49" charset="0"/>
                <a:ea typeface="JetBrains Mono" pitchFamily="49" charset="-122"/>
                <a:cs typeface="JetBrains Mono" pitchFamily="49" charset="-120"/>
              </a:rPr>
              <a:t>05 · Rewards</a:t>
            </a:r>
            <a:endParaRPr lang="en-US" sz="1200" dirty="0"/>
          </a:p>
        </p:txBody>
      </p:sp>
      <p:sp>
        <p:nvSpPr>
          <p:cNvPr id="9" name="Text 6"/>
          <p:cNvSpPr/>
          <p:nvPr/>
        </p:nvSpPr>
        <p:spPr>
          <a:xfrm>
            <a:off x="812800" y="4861564"/>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3EEE2"/>
                </a:solidFill>
                <a:latin typeface="Sora" pitchFamily="34" charset="0"/>
                <a:ea typeface="Sora" pitchFamily="34" charset="-122"/>
                <a:cs typeface="Sora" pitchFamily="34" charset="-120"/>
              </a:rPr>
              <a:t>Sweat into currency</a:t>
            </a:r>
            <a:endParaRPr lang="en-US" sz="1400" dirty="0"/>
          </a:p>
        </p:txBody>
      </p:sp>
      <p:sp>
        <p:nvSpPr>
          <p:cNvPr id="10" name="Text 7"/>
          <p:cNvSpPr/>
          <p:nvPr/>
        </p:nvSpPr>
        <p:spPr>
          <a:xfrm>
            <a:off x="812800" y="5113021"/>
            <a:ext cx="248539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FB8"/>
                </a:solidFill>
                <a:latin typeface="Inter" pitchFamily="34" charset="0"/>
                <a:ea typeface="Inter" pitchFamily="34" charset="-122"/>
                <a:cs typeface="Inter" pitchFamily="34" charset="-120"/>
              </a:rPr>
              <a:t>1,000 Fit Points = 100 bank points, or vouchers with a QR code.</a:t>
            </a:r>
            <a:endParaRPr lang="en-US" sz="1200" dirty="0"/>
          </a:p>
        </p:txBody>
      </p:sp>
      <p:pic>
        <p:nvPicPr>
          <p:cNvPr id="11" name="Image 1" descr="Gym Leaderboard for Heroes Gym West Amman: gold, silver and bronze podium, ranked list and You at number 7 with 94% accuracy">    </p:cNvPr>
          <p:cNvPicPr>
            <a:picLocks noChangeAspect="1"/>
          </p:cNvPicPr>
          <p:nvPr/>
        </p:nvPicPr>
        <p:blipFill>
          <a:blip r:embed="rId2"/>
          <a:srcRect l="198" r="198" t="0" b="0"/>
          <a:stretch/>
        </p:blipFill>
        <p:spPr>
          <a:xfrm rot="180000">
            <a:off x="3975100" y="1790700"/>
            <a:ext cx="1524000" cy="2921000"/>
          </a:xfrm>
          <a:prstGeom prst="roundRect">
            <a:avLst>
              <a:gd name="adj" fmla="val 14167"/>
            </a:avLst>
          </a:prstGeom>
          <a:effectLst>
            <a:outerShdw sx="100000" sy="100000" kx="0" ky="0" algn="bl" rotWithShape="0" blurRad="381000" dist="190500" dir="5400000">
              <a:srgbClr val="000000">
                <a:alpha val="60000"/>
              </a:srgbClr>
            </a:outerShdw>
          </a:effectLst>
        </p:spPr>
      </p:pic>
      <p:sp>
        <p:nvSpPr>
          <p:cNvPr id="12" name="Text 8"/>
          <p:cNvSpPr/>
          <p:nvPr/>
        </p:nvSpPr>
        <p:spPr>
          <a:xfrm>
            <a:off x="3530600" y="48641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C98E"/>
                </a:solidFill>
                <a:latin typeface="JetBrains Mono" pitchFamily="49" charset="0"/>
                <a:ea typeface="JetBrains Mono" pitchFamily="49" charset="-122"/>
                <a:cs typeface="JetBrains Mono" pitchFamily="49" charset="-120"/>
              </a:rPr>
              <a:t>06 · Leaderboard</a:t>
            </a:r>
            <a:endParaRPr lang="en-US" sz="1200" dirty="0"/>
          </a:p>
        </p:txBody>
      </p:sp>
      <p:sp>
        <p:nvSpPr>
          <p:cNvPr id="13" name="Text 9"/>
          <p:cNvSpPr/>
          <p:nvPr/>
        </p:nvSpPr>
        <p:spPr>
          <a:xfrm>
            <a:off x="3530600" y="5115564"/>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3EEE2"/>
                </a:solidFill>
                <a:latin typeface="Sora" pitchFamily="34" charset="0"/>
                <a:ea typeface="Sora" pitchFamily="34" charset="-122"/>
                <a:cs typeface="Sora" pitchFamily="34" charset="-120"/>
              </a:rPr>
              <a:t>Your gym, your rivals</a:t>
            </a:r>
            <a:endParaRPr lang="en-US" sz="1400" dirty="0"/>
          </a:p>
        </p:txBody>
      </p:sp>
      <p:sp>
        <p:nvSpPr>
          <p:cNvPr id="14" name="Text 10"/>
          <p:cNvSpPr/>
          <p:nvPr/>
        </p:nvSpPr>
        <p:spPr>
          <a:xfrm>
            <a:off x="3530600" y="5367021"/>
            <a:ext cx="248539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FB8"/>
                </a:solidFill>
                <a:latin typeface="Inter" pitchFamily="34" charset="0"/>
                <a:ea typeface="Inter" pitchFamily="34" charset="-122"/>
                <a:cs typeface="Inter" pitchFamily="34" charset="-120"/>
              </a:rPr>
              <a:t>Heroes Gym Hub, this month: a podium, ranks, form scores and your spot.</a:t>
            </a:r>
            <a:endParaRPr lang="en-US" sz="1200" dirty="0"/>
          </a:p>
        </p:txBody>
      </p:sp>
      <p:pic>
        <p:nvPicPr>
          <p:cNvPr id="15" name="Image 2" descr="Emergency SOS: SOS Alert Sent to Jordan Civil Defense 911 and a specialty hospital 800 m away, medical file sent, ambulance being dispatched">    </p:cNvPr>
          <p:cNvPicPr>
            <a:picLocks noChangeAspect="1"/>
          </p:cNvPicPr>
          <p:nvPr/>
        </p:nvPicPr>
        <p:blipFill>
          <a:blip r:embed="rId3"/>
          <a:srcRect l="0" r="0" t="392" b="392"/>
          <a:stretch/>
        </p:blipFill>
        <p:spPr>
          <a:xfrm rot="21420000">
            <a:off x="6692900" y="1536700"/>
            <a:ext cx="1524000" cy="2921000"/>
          </a:xfrm>
          <a:prstGeom prst="roundRect">
            <a:avLst>
              <a:gd name="adj" fmla="val 14167"/>
            </a:avLst>
          </a:prstGeom>
          <a:effectLst>
            <a:outerShdw sx="100000" sy="100000" kx="0" ky="0" algn="bl" rotWithShape="0" blurRad="381000" dist="190500" dir="5400000">
              <a:srgbClr val="000000">
                <a:alpha val="60000"/>
              </a:srgbClr>
            </a:outerShdw>
          </a:effectLst>
        </p:spPr>
      </p:pic>
      <p:sp>
        <p:nvSpPr>
          <p:cNvPr id="16" name="Text 11"/>
          <p:cNvSpPr/>
          <p:nvPr/>
        </p:nvSpPr>
        <p:spPr>
          <a:xfrm>
            <a:off x="6248400" y="46101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8E"/>
                </a:solidFill>
                <a:latin typeface="JetBrains Mono" pitchFamily="49" charset="0"/>
                <a:ea typeface="JetBrains Mono" pitchFamily="49" charset="-122"/>
                <a:cs typeface="JetBrains Mono" pitchFamily="49" charset="-120"/>
              </a:rPr>
              <a:t>07 · Emergency SOS</a:t>
            </a:r>
            <a:endParaRPr lang="en-US" sz="1200" dirty="0"/>
          </a:p>
        </p:txBody>
      </p:sp>
      <p:sp>
        <p:nvSpPr>
          <p:cNvPr id="17" name="Text 12"/>
          <p:cNvSpPr/>
          <p:nvPr/>
        </p:nvSpPr>
        <p:spPr>
          <a:xfrm>
            <a:off x="6248400" y="4861564"/>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3EEE2"/>
                </a:solidFill>
                <a:latin typeface="Sora" pitchFamily="34" charset="0"/>
                <a:ea typeface="Sora" pitchFamily="34" charset="-122"/>
                <a:cs typeface="Sora" pitchFamily="34" charset="-120"/>
              </a:rPr>
              <a:t>Help before you ask</a:t>
            </a:r>
            <a:endParaRPr lang="en-US" sz="1400" dirty="0"/>
          </a:p>
        </p:txBody>
      </p:sp>
      <p:sp>
        <p:nvSpPr>
          <p:cNvPr id="18" name="Text 13"/>
          <p:cNvSpPr/>
          <p:nvPr/>
        </p:nvSpPr>
        <p:spPr>
          <a:xfrm>
            <a:off x="6248400" y="5113021"/>
            <a:ext cx="24853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FB8"/>
                </a:solidFill>
                <a:latin typeface="Inter" pitchFamily="34" charset="0"/>
                <a:ea typeface="Inter" pitchFamily="34" charset="-122"/>
                <a:cs typeface="Inter" pitchFamily="34" charset="-120"/>
              </a:rPr>
              <a:t>One tap calls 911, shows first-aid steps and your saved contact.</a:t>
            </a:r>
            <a:endParaRPr lang="en-US" sz="1200" dirty="0"/>
          </a:p>
        </p:txBody>
      </p:sp>
      <p:pic>
        <p:nvPicPr>
          <p:cNvPr id="19" name="Image 3" descr="Side menu: profile with 4,850 Fit Points, links to AI tracker, plan, leaderboard, rewards, SOS, history and settings, partner Arab Bank">    </p:cNvPr>
          <p:cNvPicPr>
            <a:picLocks noChangeAspect="1"/>
          </p:cNvPicPr>
          <p:nvPr/>
        </p:nvPicPr>
        <p:blipFill>
          <a:blip r:embed="rId4"/>
          <a:srcRect l="0" r="0" t="16" b="16"/>
          <a:stretch/>
        </p:blipFill>
        <p:spPr>
          <a:xfrm rot="180000">
            <a:off x="9410700" y="1790700"/>
            <a:ext cx="1524000" cy="2921000"/>
          </a:xfrm>
          <a:prstGeom prst="roundRect">
            <a:avLst>
              <a:gd name="adj" fmla="val 14167"/>
            </a:avLst>
          </a:prstGeom>
          <a:effectLst>
            <a:outerShdw sx="100000" sy="100000" kx="0" ky="0" algn="bl" rotWithShape="0" blurRad="381000" dist="190500" dir="5400000">
              <a:srgbClr val="000000">
                <a:alpha val="60000"/>
              </a:srgbClr>
            </a:outerShdw>
          </a:effectLst>
        </p:spPr>
      </p:pic>
      <p:sp>
        <p:nvSpPr>
          <p:cNvPr id="20" name="Text 14"/>
          <p:cNvSpPr/>
          <p:nvPr/>
        </p:nvSpPr>
        <p:spPr>
          <a:xfrm>
            <a:off x="8966200" y="48641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C98E"/>
                </a:solidFill>
                <a:latin typeface="JetBrains Mono" pitchFamily="49" charset="0"/>
                <a:ea typeface="JetBrains Mono" pitchFamily="49" charset="-122"/>
                <a:cs typeface="JetBrains Mono" pitchFamily="49" charset="-120"/>
              </a:rPr>
              <a:t>08 · Menu</a:t>
            </a:r>
            <a:endParaRPr lang="en-US" sz="1200" dirty="0"/>
          </a:p>
        </p:txBody>
      </p:sp>
      <p:sp>
        <p:nvSpPr>
          <p:cNvPr id="21" name="Text 15"/>
          <p:cNvSpPr/>
          <p:nvPr/>
        </p:nvSpPr>
        <p:spPr>
          <a:xfrm>
            <a:off x="8966200" y="5115564"/>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3EEE2"/>
                </a:solidFill>
                <a:latin typeface="Sora" pitchFamily="34" charset="0"/>
                <a:ea typeface="Sora" pitchFamily="34" charset="-122"/>
                <a:cs typeface="Sora" pitchFamily="34" charset="-120"/>
              </a:rPr>
              <a:t>One swipe to anything</a:t>
            </a:r>
            <a:endParaRPr lang="en-US" sz="1400" dirty="0"/>
          </a:p>
        </p:txBody>
      </p:sp>
      <p:sp>
        <p:nvSpPr>
          <p:cNvPr id="22" name="Text 16"/>
          <p:cNvSpPr/>
          <p:nvPr/>
        </p:nvSpPr>
        <p:spPr>
          <a:xfrm>
            <a:off x="8966200" y="5367021"/>
            <a:ext cx="24853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FB8"/>
                </a:solidFill>
                <a:latin typeface="Inter" pitchFamily="34" charset="0"/>
                <a:ea typeface="Inter" pitchFamily="34" charset="-122"/>
                <a:cs typeface="Inter" pitchFamily="34" charset="-120"/>
              </a:rPr>
              <a:t>Every feature, plus our partner: Islamic International Arab Bank.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5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62C48E"/>
                </a:solidFill>
                <a:latin typeface="JetBrains Mono" pitchFamily="49" charset="0"/>
                <a:ea typeface="JetBrains Mono" pitchFamily="49" charset="-122"/>
                <a:cs typeface="JetBrains Mono" pitchFamily="49" charset="-120"/>
              </a:rPr>
              <a:t>FEATURE 01 · REAL CAMERA SQUAT TRACKER</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3E8"/>
                </a:solidFill>
                <a:latin typeface="Sora" pitchFamily="34" charset="0"/>
                <a:ea typeface="Sora" pitchFamily="34" charset="-122"/>
                <a:cs typeface="Sora" pitchFamily="34" charset="-120"/>
              </a:rPr>
              <a:t>The camera counts only safe reps</a:t>
            </a:r>
            <a:endParaRPr lang="en-US" sz="3600" dirty="0"/>
          </a:p>
        </p:txBody>
      </p:sp>
      <p:sp>
        <p:nvSpPr>
          <p:cNvPr id="4" name="Text 2"/>
          <p:cNvSpPr/>
          <p:nvPr/>
        </p:nvSpPr>
        <p:spPr>
          <a:xfrm>
            <a:off x="812800" y="1935479"/>
            <a:ext cx="5258562"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D3DECF"/>
                </a:solidFill>
                <a:latin typeface="Inter" pitchFamily="34" charset="0"/>
                <a:ea typeface="Inter" pitchFamily="34" charset="-122"/>
                <a:cs typeface="Inter" pitchFamily="34" charset="-120"/>
              </a:rPr>
              <a:t>MediaPipe Pose Landmarker runs in the browser on the phone or laptop. It finds the hip, knee and ankle and measures the knee angle on every frame.</a:t>
            </a:r>
            <a:endParaRPr lang="en-US" sz="1600" dirty="0"/>
          </a:p>
        </p:txBody>
      </p:sp>
      <p:sp>
        <p:nvSpPr>
          <p:cNvPr id="5" name="Text 3"/>
          <p:cNvSpPr/>
          <p:nvPr/>
        </p:nvSpPr>
        <p:spPr>
          <a:xfrm>
            <a:off x="819150" y="2978150"/>
            <a:ext cx="5092700" cy="510540"/>
          </a:xfrm>
          <a:prstGeom prst="roundRect">
            <a:avLst>
              <a:gd name="adj" fmla="val 21144"/>
            </a:avLst>
          </a:prstGeom>
          <a:solidFill>
            <a:srgbClr val="3A1C1E"/>
          </a:solidFill>
          <a:ln w="12700">
            <a:solidFill>
              <a:srgbClr val="D9444A"/>
            </a:solidFill>
            <a:prstDash val="solid"/>
          </a:ln>
        </p:spPr>
        <p:txBody>
          <a:bodyPr wrap="square" lIns="149993" tIns="99193" rIns="8108" bIns="73793" rtlCol="0" anchor="t">
            <a:normAutofit/>
          </a:bodyPr>
          <a:lstStyle/>
          <a:p>
            <a:pPr algn="l" indent="0" marL="0">
              <a:lnSpc>
                <a:spcPts val="1960"/>
              </a:lnSpc>
              <a:buNone/>
            </a:pPr>
            <a:r>
              <a:rPr lang="en-US" sz="1400" b="1" dirty="0">
                <a:solidFill>
                  <a:srgbClr val="F6D3D3"/>
                </a:solidFill>
                <a:latin typeface="Inter" pitchFamily="34" charset="0"/>
                <a:ea typeface="Inter" pitchFamily="34" charset="-122"/>
                <a:cs typeface="Inter" pitchFamily="34" charset="-120"/>
              </a:rPr>
              <a:t>“Go Lower: Reach 90°”</a:t>
            </a:r>
            <a:endParaRPr lang="en-US" sz="1400" dirty="0"/>
          </a:p>
        </p:txBody>
      </p:sp>
      <p:sp>
        <p:nvSpPr>
          <p:cNvPr id="6" name="Text 4"/>
          <p:cNvSpPr/>
          <p:nvPr/>
        </p:nvSpPr>
        <p:spPr>
          <a:xfrm>
            <a:off x="819150" y="3602992"/>
            <a:ext cx="5092700" cy="510540"/>
          </a:xfrm>
          <a:prstGeom prst="roundRect">
            <a:avLst>
              <a:gd name="adj" fmla="val 21144"/>
            </a:avLst>
          </a:prstGeom>
          <a:solidFill>
            <a:srgbClr val="3A1C1E"/>
          </a:solidFill>
          <a:ln w="12700">
            <a:solidFill>
              <a:srgbClr val="D9444A"/>
            </a:solidFill>
            <a:prstDash val="solid"/>
          </a:ln>
        </p:spPr>
        <p:txBody>
          <a:bodyPr wrap="square" lIns="149993" tIns="99193" rIns="8108" bIns="73793" rtlCol="0" anchor="t">
            <a:normAutofit/>
          </a:bodyPr>
          <a:lstStyle/>
          <a:p>
            <a:pPr algn="l" indent="0" marL="0">
              <a:lnSpc>
                <a:spcPts val="1960"/>
              </a:lnSpc>
              <a:buNone/>
            </a:pPr>
            <a:r>
              <a:rPr lang="en-US" sz="1400" b="1" dirty="0">
                <a:solidFill>
                  <a:srgbClr val="F6D3D3"/>
                </a:solidFill>
                <a:latin typeface="Inter" pitchFamily="34" charset="0"/>
                <a:ea typeface="Inter" pitchFamily="34" charset="-122"/>
                <a:cs typeface="Inter" pitchFamily="34" charset="-120"/>
              </a:rPr>
              <a:t>“Too Deep: Protect Your Knee”</a:t>
            </a:r>
            <a:endParaRPr lang="en-US" sz="1400" dirty="0"/>
          </a:p>
        </p:txBody>
      </p:sp>
      <p:sp>
        <p:nvSpPr>
          <p:cNvPr id="7" name="Text 5"/>
          <p:cNvSpPr/>
          <p:nvPr/>
        </p:nvSpPr>
        <p:spPr>
          <a:xfrm>
            <a:off x="812800" y="4272279"/>
            <a:ext cx="525856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DBF"/>
                </a:solidFill>
                <a:latin typeface="Inter" pitchFamily="34" charset="0"/>
                <a:ea typeface="Inter" pitchFamily="34" charset="-122"/>
                <a:cs typeface="Inter" pitchFamily="34" charset="-120"/>
              </a:rPr>
              <a:t>Sound you can hear mid-set: an </a:t>
            </a:r>
            <a:r>
              <a:rPr lang="en-US" sz="1400" b="1" dirty="0">
                <a:solidFill>
                  <a:srgbClr val="62C48E"/>
                </a:solidFill>
                <a:latin typeface="Inter" pitchFamily="34" charset="0"/>
                <a:ea typeface="Inter" pitchFamily="34" charset="-122"/>
                <a:cs typeface="Inter" pitchFamily="34" charset="-120"/>
              </a:rPr>
              <a:t>880 Hz chime</a:t>
            </a:r>
            <a:r>
              <a:rPr lang="en-US" sz="1400" dirty="0">
                <a:solidFill>
                  <a:srgbClr val="BFCDBF"/>
                </a:solidFill>
                <a:latin typeface="Inter" pitchFamily="34" charset="0"/>
                <a:ea typeface="Inter" pitchFamily="34" charset="-122"/>
                <a:cs typeface="Inter" pitchFamily="34" charset="-120"/>
              </a:rPr>
              <a:t> for a clean rep, a </a:t>
            </a:r>
            <a:r>
              <a:rPr lang="en-US" sz="1400" b="1" dirty="0">
                <a:solidFill>
                  <a:srgbClr val="E8786C"/>
                </a:solidFill>
                <a:latin typeface="Inter" pitchFamily="34" charset="0"/>
                <a:ea typeface="Inter" pitchFamily="34" charset="-122"/>
                <a:cs typeface="Inter" pitchFamily="34" charset="-120"/>
              </a:rPr>
              <a:t>220 Hz buzz</a:t>
            </a:r>
            <a:r>
              <a:rPr lang="en-US" sz="1400" dirty="0">
                <a:solidFill>
                  <a:srgbClr val="BFCDBF"/>
                </a:solidFill>
                <a:latin typeface="Inter" pitchFamily="34" charset="0"/>
                <a:ea typeface="Inter" pitchFamily="34" charset="-122"/>
                <a:cs typeface="Inter" pitchFamily="34" charset="-120"/>
              </a:rPr>
              <a:t> for a bad one.</a:t>
            </a:r>
            <a:endParaRPr lang="en-US" sz="1400" dirty="0"/>
          </a:p>
        </p:txBody>
      </p:sp>
      <p:sp>
        <p:nvSpPr>
          <p:cNvPr id="8" name="Shape 6"/>
          <p:cNvSpPr/>
          <p:nvPr/>
        </p:nvSpPr>
        <p:spPr>
          <a:xfrm>
            <a:off x="6273800" y="1935479"/>
            <a:ext cx="5105400" cy="2700020"/>
          </a:xfrm>
          <a:custGeom>
            <a:avLst/>
            <a:gdLst/>
            <a:ahLst/>
            <a:cxnLst/>
            <a:rect l="l" t="t" r="r" b="b"/>
            <a:pathLst>
              <a:path w="5105400" h="2700020">
                <a:moveTo>
                  <a:pt x="4978400" y="0"/>
                </a:moveTo>
                <a:lnTo>
                  <a:pt x="4978400" y="0"/>
                </a:lnTo>
                <a:arcTo hR="127000" wR="127000" stAng="16200000" swAng="5400000"/>
                <a:lnTo>
                  <a:pt x="5105400" y="2573020"/>
                </a:lnTo>
                <a:arcTo hR="127000" wR="127000" stAng="0" swAng="5400000"/>
                <a:lnTo>
                  <a:pt x="127000" y="2700020"/>
                </a:lnTo>
                <a:arcTo hR="127000" wR="127000" stAng="5400000" swAng="5400000"/>
                <a:lnTo>
                  <a:pt x="0" y="2573020"/>
                </a:lnTo>
                <a:arcTo hR="120650" wR="127000" stAng="10800000" swAng="-5400000"/>
                <a:lnTo>
                  <a:pt x="4978400" y="2693670"/>
                </a:lnTo>
                <a:arcTo hR="120650" wR="120650" stAng="5400000" swAng="-5400000"/>
                <a:lnTo>
                  <a:pt x="5099050" y="127000"/>
                </a:lnTo>
                <a:arcTo hR="127000" wR="120650" stAng="0" swAng="-5400000"/>
                <a:close/>
              </a:path>
            </a:pathLst>
          </a:custGeom>
          <a:solidFill>
            <a:srgbClr val="2A3830"/>
          </a:solidFill>
          <a:ln/>
        </p:spPr>
      </p:sp>
      <p:sp>
        <p:nvSpPr>
          <p:cNvPr id="9" name="Shape 7"/>
          <p:cNvSpPr/>
          <p:nvPr/>
        </p:nvSpPr>
        <p:spPr>
          <a:xfrm>
            <a:off x="6273800" y="1935479"/>
            <a:ext cx="5105400" cy="2700020"/>
          </a:xfrm>
          <a:custGeom>
            <a:avLst/>
            <a:gdLst/>
            <a:ahLst/>
            <a:cxnLst/>
            <a:rect l="l" t="t" r="r" b="b"/>
            <a:pathLst>
              <a:path w="5105400" h="2700020">
                <a:moveTo>
                  <a:pt x="127000" y="2700020"/>
                </a:moveTo>
                <a:lnTo>
                  <a:pt x="127000" y="2700020"/>
                </a:lnTo>
                <a:arcTo hR="127000" wR="127000" stAng="5400000" swAng="5400000"/>
                <a:lnTo>
                  <a:pt x="0" y="127000"/>
                </a:lnTo>
                <a:arcTo hR="127000" wR="127000" stAng="10800000" swAng="5400000"/>
                <a:lnTo>
                  <a:pt x="4978400" y="0"/>
                </a:lnTo>
                <a:arcTo hR="127000" wR="127000" stAng="16200000" swAng="5400000"/>
                <a:lnTo>
                  <a:pt x="5105400" y="127000"/>
                </a:lnTo>
                <a:arcTo hR="116840" wR="127000" stAng="0" swAng="-5400000"/>
                <a:lnTo>
                  <a:pt x="127000" y="10160"/>
                </a:lnTo>
                <a:arcTo hR="116840" wR="116840" stAng="16200000" swAng="-5400000"/>
                <a:lnTo>
                  <a:pt x="10160" y="2573020"/>
                </a:lnTo>
                <a:arcTo hR="127000" wR="116840" stAng="10800000" swAng="-5400000"/>
                <a:close/>
              </a:path>
            </a:pathLst>
          </a:custGeom>
          <a:solidFill>
            <a:srgbClr val="FAF9F5">
              <a:alpha val="22000"/>
            </a:srgbClr>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83960" y="1945639"/>
          <a:ext cx="5090160" cy="2684780"/>
        </p:xfrm>
        <a:graphic>
          <a:graphicData uri="http://schemas.openxmlformats.org/drawingml/2006/table">
            <a:tbl>
              <a:tblPr/>
              <a:tblGrid>
                <a:gridCol w="3155899"/>
                <a:gridCol w="1934261"/>
              </a:tblGrid>
              <a:tr h="383540">
                <a:tc>
                  <a:txBody>
                    <a:bodyPr/>
                    <a:lstStyle/>
                    <a:p>
                      <a:pPr indent="0" marL="0">
                        <a:lnSpc>
                          <a:spcPts val="1960"/>
                        </a:lnSpc>
                        <a:buNone/>
                      </a:pPr>
                      <a:r>
                        <a:rPr lang="en-US" sz="1400" b="1" dirty="0">
                          <a:solidFill>
                            <a:srgbClr val="EEF3E8"/>
                          </a:solidFill>
                          <a:latin typeface="Inter" pitchFamily="34" charset="0"/>
                          <a:ea typeface="Inter" pitchFamily="34" charset="-122"/>
                          <a:cs typeface="Inter" pitchFamily="34" charset="-120"/>
                        </a:rPr>
                        <a:t>Rule</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4D554F"/>
                      </a:solidFill>
                      <a:prstDash val="solid"/>
                      <a:round/>
                      <a:headEnd type="none" w="med" len="med"/>
                      <a:tailEnd type="none" w="med" len="med"/>
                    </a:lnR>
                    <a:lnT w="0" cap="flat" cmpd="sng" algn="ctr">
                      <a:noFill/>
                    </a:lnT>
                    <a:lnB w="12700" cap="flat" cmpd="sng" algn="ctr">
                      <a:solidFill>
                        <a:srgbClr val="4D554F"/>
                      </a:solidFill>
                      <a:prstDash val="solid"/>
                      <a:round/>
                      <a:headEnd type="none" w="med" len="med"/>
                      <a:tailEnd type="none" w="med" len="med"/>
                    </a:lnB>
                    <a:solidFill>
                      <a:srgbClr val="1C2720"/>
                    </a:solidFill>
                  </a:tcPr>
                </a:tc>
                <a:tc>
                  <a:txBody>
                    <a:bodyPr/>
                    <a:lstStyle/>
                    <a:p>
                      <a:pPr algn="r" indent="0" marL="0">
                        <a:lnSpc>
                          <a:spcPts val="1960"/>
                        </a:lnSpc>
                        <a:buNone/>
                      </a:pPr>
                      <a:r>
                        <a:rPr lang="en-US" sz="1400" b="1" dirty="0">
                          <a:solidFill>
                            <a:srgbClr val="EEF3E8"/>
                          </a:solidFill>
                          <a:latin typeface="Inter" pitchFamily="34" charset="0"/>
                          <a:ea typeface="Inter" pitchFamily="34" charset="-122"/>
                          <a:cs typeface="Inter" pitchFamily="34" charset="-120"/>
                        </a:rPr>
                        <a:t>Knee angle</a:t>
                      </a:r>
                      <a:endParaRPr lang="en-US" sz="1400" dirty="0">
                        <a:latin typeface="Inter" charset="0"/>
                        <a:ea typeface="Inter" charset="0"/>
                        <a:cs typeface="Inter" charset="0"/>
                      </a:endParaRPr>
                    </a:p>
                  </a:txBody>
                  <a:tcPr marL="62230" marR="62230" marT="62230" marB="62230" anchor="t">
                    <a:lnL w="12700" cap="flat" cmpd="sng" algn="ctr">
                      <a:solidFill>
                        <a:srgbClr val="4D554F"/>
                      </a:solidFill>
                      <a:prstDash val="solid"/>
                      <a:round/>
                      <a:headEnd type="none" w="med" len="med"/>
                      <a:tailEnd type="none" w="med" len="med"/>
                    </a:lnL>
                    <a:lnR w="12700" cap="flat" cmpd="sng" algn="ctr">
                      <a:solidFill>
                        <a:srgbClr val="4D554F"/>
                      </a:solidFill>
                      <a:prstDash val="solid"/>
                      <a:round/>
                      <a:headEnd type="none" w="med" len="med"/>
                      <a:tailEnd type="none" w="med" len="med"/>
                    </a:lnR>
                    <a:lnT w="0" cap="flat" cmpd="sng" algn="ctr">
                      <a:noFill/>
                    </a:lnT>
                    <a:lnB w="12700" cap="flat" cmpd="sng" algn="ctr">
                      <a:solidFill>
                        <a:srgbClr val="4D554F"/>
                      </a:solidFill>
                      <a:prstDash val="solid"/>
                      <a:round/>
                      <a:headEnd type="none" w="med" len="med"/>
                      <a:tailEnd type="none" w="med" len="med"/>
                    </a:lnB>
                    <a:solidFill>
                      <a:srgbClr val="1C2720"/>
                    </a:solidFill>
                  </a:tcPr>
                </a:tc>
              </a:tr>
              <a:tr h="383540">
                <a:tc>
                  <a:txBody>
                    <a:bodyPr/>
                    <a:lstStyle/>
                    <a:p>
                      <a:pPr indent="0" marL="0">
                        <a:lnSpc>
                          <a:spcPts val="1960"/>
                        </a:lnSpc>
                        <a:buNone/>
                      </a:pPr>
                      <a:r>
                        <a:rPr lang="en-US" sz="1400" dirty="0">
                          <a:solidFill>
                            <a:srgbClr val="EEF3E8"/>
                          </a:solidFill>
                          <a:latin typeface="Inter" pitchFamily="34" charset="0"/>
                          <a:ea typeface="Inter" pitchFamily="34" charset="-122"/>
                          <a:cs typeface="Inter" pitchFamily="34" charset="-120"/>
                        </a:rPr>
                        <a:t>Standing</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424743"/>
                      </a:solidFill>
                      <a:prstDash val="solid"/>
                      <a:round/>
                      <a:headEnd type="none" w="med" len="med"/>
                      <a:tailEnd type="none" w="med" len="med"/>
                    </a:lnR>
                    <a:lnT w="12700" cap="flat" cmpd="sng" algn="ctr">
                      <a:solidFill>
                        <a:srgbClr val="4D554F"/>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c>
                  <a:txBody>
                    <a:bodyPr/>
                    <a:lstStyle/>
                    <a:p>
                      <a:pPr algn="r" indent="0" marL="0">
                        <a:lnSpc>
                          <a:spcPts val="1960"/>
                        </a:lnSpc>
                        <a:buNone/>
                      </a:pPr>
                      <a:r>
                        <a:rPr lang="en-US" sz="1400" dirty="0">
                          <a:solidFill>
                            <a:srgbClr val="EEF3E8"/>
                          </a:solidFill>
                          <a:latin typeface="Inter" pitchFamily="34" charset="0"/>
                          <a:ea typeface="Inter" pitchFamily="34" charset="-122"/>
                          <a:cs typeface="Inter" pitchFamily="34" charset="-120"/>
                        </a:rPr>
                        <a:t>160°</a:t>
                      </a:r>
                      <a:endParaRPr lang="en-US" sz="1400" dirty="0">
                        <a:latin typeface="Inter" charset="0"/>
                        <a:ea typeface="Inter" charset="0"/>
                        <a:cs typeface="Inter" charset="0"/>
                      </a:endParaRPr>
                    </a:p>
                  </a:txBody>
                  <a:tcPr marL="62230" marR="62230" marT="62230" marB="62230"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D554F"/>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r>
              <a:tr h="383540">
                <a:tc>
                  <a:txBody>
                    <a:bodyPr/>
                    <a:lstStyle/>
                    <a:p>
                      <a:pPr indent="0" marL="0">
                        <a:lnSpc>
                          <a:spcPts val="1960"/>
                        </a:lnSpc>
                        <a:buNone/>
                      </a:pPr>
                      <a:r>
                        <a:rPr lang="en-US" sz="1400" dirty="0">
                          <a:solidFill>
                            <a:srgbClr val="EEF3E8"/>
                          </a:solidFill>
                          <a:latin typeface="Inter" pitchFamily="34" charset="0"/>
                          <a:ea typeface="Inter" pitchFamily="34" charset="-122"/>
                          <a:cs typeface="Inter" pitchFamily="34" charset="-120"/>
                        </a:rPr>
                        <a:t>Descent starts</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c>
                  <a:txBody>
                    <a:bodyPr/>
                    <a:lstStyle/>
                    <a:p>
                      <a:pPr algn="r" indent="0" marL="0">
                        <a:lnSpc>
                          <a:spcPts val="1960"/>
                        </a:lnSpc>
                        <a:buNone/>
                      </a:pPr>
                      <a:r>
                        <a:rPr lang="en-US" sz="1400" dirty="0">
                          <a:solidFill>
                            <a:srgbClr val="EEF3E8"/>
                          </a:solidFill>
                          <a:latin typeface="Inter" pitchFamily="34" charset="0"/>
                          <a:ea typeface="Inter" pitchFamily="34" charset="-122"/>
                          <a:cs typeface="Inter" pitchFamily="34" charset="-120"/>
                        </a:rPr>
                        <a:t>145°</a:t>
                      </a:r>
                      <a:endParaRPr lang="en-US" sz="1400" dirty="0">
                        <a:latin typeface="Inter" charset="0"/>
                        <a:ea typeface="Inter" charset="0"/>
                        <a:cs typeface="Inter" charset="0"/>
                      </a:endParaRPr>
                    </a:p>
                  </a:txBody>
                  <a:tcPr marL="62230" marR="62230" marT="62230" marB="62230" anchor="t">
                    <a:lnL w="12700" cap="flat" cmpd="sng" algn="ctr">
                      <a:solidFill>
                        <a:srgbClr val="464C47"/>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r>
              <a:tr h="383540">
                <a:tc>
                  <a:txBody>
                    <a:bodyPr/>
                    <a:lstStyle/>
                    <a:p>
                      <a:pPr indent="0" marL="0">
                        <a:lnSpc>
                          <a:spcPts val="1960"/>
                        </a:lnSpc>
                        <a:buNone/>
                      </a:pPr>
                      <a:r>
                        <a:rPr lang="en-US" sz="1400" dirty="0">
                          <a:solidFill>
                            <a:srgbClr val="EEF3E8"/>
                          </a:solidFill>
                          <a:latin typeface="Inter" pitchFamily="34" charset="0"/>
                          <a:ea typeface="Inter" pitchFamily="34" charset="-122"/>
                          <a:cs typeface="Inter" pitchFamily="34" charset="-120"/>
                        </a:rPr>
                        <a:t>Rep counts (thigh parallel)</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424743"/>
                      </a:solidFill>
                      <a:prstDash val="solid"/>
                      <a:round/>
                      <a:headEnd type="none" w="med" len="med"/>
                      <a:tailEnd type="none" w="med" len="med"/>
                    </a:lnR>
                    <a:lnT w="12700" cap="flat" cmpd="sng" algn="ctr">
                      <a:solidFill>
                        <a:srgbClr val="464C47"/>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c>
                  <a:txBody>
                    <a:bodyPr/>
                    <a:lstStyle/>
                    <a:p>
                      <a:pPr algn="r" indent="0" marL="0">
                        <a:lnSpc>
                          <a:spcPts val="1960"/>
                        </a:lnSpc>
                        <a:buNone/>
                      </a:pPr>
                      <a:r>
                        <a:rPr lang="en-US" sz="1400" dirty="0">
                          <a:solidFill>
                            <a:srgbClr val="EEF3E8"/>
                          </a:solidFill>
                          <a:latin typeface="Inter" pitchFamily="34" charset="0"/>
                          <a:ea typeface="Inter" pitchFamily="34" charset="-122"/>
                          <a:cs typeface="Inter" pitchFamily="34" charset="-120"/>
                        </a:rPr>
                        <a:t>≤ 90°</a:t>
                      </a:r>
                      <a:endParaRPr lang="en-US" sz="1400" dirty="0">
                        <a:latin typeface="Inter" charset="0"/>
                        <a:ea typeface="Inter" charset="0"/>
                        <a:cs typeface="Inter" charset="0"/>
                      </a:endParaRPr>
                    </a:p>
                  </a:txBody>
                  <a:tcPr marL="62230" marR="62230" marT="62230" marB="62230"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64C47"/>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r>
              <a:tr h="383540">
                <a:tc>
                  <a:txBody>
                    <a:bodyPr/>
                    <a:lstStyle/>
                    <a:p>
                      <a:pPr indent="0" marL="0">
                        <a:lnSpc>
                          <a:spcPts val="1960"/>
                        </a:lnSpc>
                        <a:buNone/>
                      </a:pPr>
                      <a:r>
                        <a:rPr lang="en-US" sz="1400" dirty="0">
                          <a:solidFill>
                            <a:srgbClr val="EEF3E8"/>
                          </a:solidFill>
                          <a:latin typeface="Inter" pitchFamily="34" charset="0"/>
                          <a:ea typeface="Inter" pitchFamily="34" charset="-122"/>
                          <a:cs typeface="Inter" pitchFamily="34" charset="-120"/>
                        </a:rPr>
                        <a:t>Knee-safe mode counts from</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c>
                  <a:txBody>
                    <a:bodyPr/>
                    <a:lstStyle/>
                    <a:p>
                      <a:pPr algn="r" indent="0" marL="0">
                        <a:lnSpc>
                          <a:spcPts val="1960"/>
                        </a:lnSpc>
                        <a:buNone/>
                      </a:pPr>
                      <a:r>
                        <a:rPr lang="en-US" sz="1400" dirty="0">
                          <a:solidFill>
                            <a:srgbClr val="EEF3E8"/>
                          </a:solidFill>
                          <a:latin typeface="Inter" pitchFamily="34" charset="0"/>
                          <a:ea typeface="Inter" pitchFamily="34" charset="-122"/>
                          <a:cs typeface="Inter" pitchFamily="34" charset="-120"/>
                        </a:rPr>
                        <a:t>≤ 100°</a:t>
                      </a:r>
                      <a:endParaRPr lang="en-US" sz="1400" dirty="0">
                        <a:latin typeface="Inter" charset="0"/>
                        <a:ea typeface="Inter" charset="0"/>
                        <a:cs typeface="Inter" charset="0"/>
                      </a:endParaRPr>
                    </a:p>
                  </a:txBody>
                  <a:tcPr marL="62230" marR="62230" marT="62230" marB="62230" anchor="t">
                    <a:lnL w="12700" cap="flat" cmpd="sng" algn="ctr">
                      <a:solidFill>
                        <a:srgbClr val="464C47"/>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r>
              <a:tr h="383540">
                <a:tc>
                  <a:txBody>
                    <a:bodyPr/>
                    <a:lstStyle/>
                    <a:p>
                      <a:pPr indent="0" marL="0">
                        <a:lnSpc>
                          <a:spcPts val="1960"/>
                        </a:lnSpc>
                        <a:buNone/>
                      </a:pPr>
                      <a:r>
                        <a:rPr lang="en-US" sz="1400" dirty="0">
                          <a:solidFill>
                            <a:srgbClr val="EEF3E8"/>
                          </a:solidFill>
                          <a:latin typeface="Inter" pitchFamily="34" charset="0"/>
                          <a:ea typeface="Inter" pitchFamily="34" charset="-122"/>
                          <a:cs typeface="Inter" pitchFamily="34" charset="-120"/>
                        </a:rPr>
                        <a:t>Knee-safe mode warns below</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424743"/>
                      </a:solidFill>
                      <a:prstDash val="solid"/>
                      <a:round/>
                      <a:headEnd type="none" w="med" len="med"/>
                      <a:tailEnd type="none" w="med" len="med"/>
                    </a:lnR>
                    <a:lnT w="12700" cap="flat" cmpd="sng" algn="ctr">
                      <a:solidFill>
                        <a:srgbClr val="464C47"/>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c>
                  <a:txBody>
                    <a:bodyPr/>
                    <a:lstStyle/>
                    <a:p>
                      <a:pPr algn="r" indent="0" marL="0">
                        <a:lnSpc>
                          <a:spcPts val="1960"/>
                        </a:lnSpc>
                        <a:buNone/>
                      </a:pPr>
                      <a:r>
                        <a:rPr lang="en-US" sz="1400" dirty="0">
                          <a:solidFill>
                            <a:srgbClr val="EEF3E8"/>
                          </a:solidFill>
                          <a:latin typeface="Inter" pitchFamily="34" charset="0"/>
                          <a:ea typeface="Inter" pitchFamily="34" charset="-122"/>
                          <a:cs typeface="Inter" pitchFamily="34" charset="-120"/>
                        </a:rPr>
                        <a:t>80°</a:t>
                      </a:r>
                      <a:endParaRPr lang="en-US" sz="1400" dirty="0">
                        <a:latin typeface="Inter" charset="0"/>
                        <a:ea typeface="Inter" charset="0"/>
                        <a:cs typeface="Inter" charset="0"/>
                      </a:endParaRPr>
                    </a:p>
                  </a:txBody>
                  <a:tcPr marL="62230" marR="62230" marT="62230" marB="62230"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64C47"/>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r>
              <a:tr h="383540">
                <a:tc>
                  <a:txBody>
                    <a:bodyPr/>
                    <a:lstStyle/>
                    <a:p>
                      <a:pPr indent="0" marL="0">
                        <a:lnSpc>
                          <a:spcPts val="1960"/>
                        </a:lnSpc>
                        <a:buNone/>
                      </a:pPr>
                      <a:r>
                        <a:rPr lang="en-US" sz="1400" dirty="0">
                          <a:solidFill>
                            <a:srgbClr val="EEF3E8"/>
                          </a:solidFill>
                          <a:latin typeface="Inter" pitchFamily="34" charset="0"/>
                          <a:ea typeface="Inter" pitchFamily="34" charset="-122"/>
                          <a:cs typeface="Inter" pitchFamily="34" charset="-120"/>
                        </a:rPr>
                        <a:t>Drop faster than 400 ms</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c>
                  <a:txBody>
                    <a:bodyPr/>
                    <a:lstStyle/>
                    <a:p>
                      <a:pPr algn="r" indent="0" marL="0">
                        <a:lnSpc>
                          <a:spcPts val="1960"/>
                        </a:lnSpc>
                        <a:buNone/>
                      </a:pPr>
                      <a:r>
                        <a:rPr lang="en-US" sz="1400" dirty="0">
                          <a:solidFill>
                            <a:srgbClr val="EEF3E8"/>
                          </a:solidFill>
                          <a:latin typeface="Inter" pitchFamily="34" charset="0"/>
                          <a:ea typeface="Inter" pitchFamily="34" charset="-122"/>
                          <a:cs typeface="Inter" pitchFamily="34" charset="-120"/>
                        </a:rPr>
                        <a:t>stumble, not a rep</a:t>
                      </a:r>
                      <a:endParaRPr lang="en-US" sz="1400" dirty="0">
                        <a:latin typeface="Inter" charset="0"/>
                        <a:ea typeface="Inter" charset="0"/>
                        <a:cs typeface="Inter" charset="0"/>
                      </a:endParaRPr>
                    </a:p>
                  </a:txBody>
                  <a:tcPr marL="62230" marR="62230" marT="62230" marB="62230" anchor="t">
                    <a:lnL w="12700" cap="flat" cmpd="sng" algn="ctr">
                      <a:solidFill>
                        <a:srgbClr val="464C47"/>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EE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1E7A4D"/>
                </a:solidFill>
                <a:latin typeface="JetBrains Mono" pitchFamily="49" charset="0"/>
                <a:ea typeface="JetBrains Mono" pitchFamily="49" charset="-122"/>
                <a:cs typeface="JetBrains Mono" pitchFamily="49" charset="-120"/>
              </a:rPr>
              <a:t>FEATURE 02 · PROGRESSIVE OVERLOAD WITH A FORM GATE</a:t>
            </a:r>
            <a:endParaRPr lang="en-US" sz="1200" dirty="0"/>
          </a:p>
        </p:txBody>
      </p:sp>
      <p:sp>
        <p:nvSpPr>
          <p:cNvPr id="3" name="Text 1"/>
          <p:cNvSpPr/>
          <p:nvPr>
            <p:ph type="title"/>
          </p:nvPr>
        </p:nvSpPr>
        <p:spPr>
          <a:xfrm>
            <a:off x="812800" y="1127764"/>
            <a:ext cx="113792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511"/>
                </a:solidFill>
                <a:latin typeface="Sora" pitchFamily="34" charset="0"/>
                <a:ea typeface="Sora" pitchFamily="34" charset="-122"/>
                <a:cs typeface="Sora" pitchFamily="34" charset="-120"/>
              </a:rPr>
              <a:t>You only get heavier when your form earns it</a:t>
            </a:r>
            <a:endParaRPr lang="en-US" sz="3600" dirty="0"/>
          </a:p>
        </p:txBody>
      </p:sp>
      <p:sp>
        <p:nvSpPr>
          <p:cNvPr id="4" name="Shape 2"/>
          <p:cNvSpPr/>
          <p:nvPr/>
        </p:nvSpPr>
        <p:spPr>
          <a:xfrm>
            <a:off x="812800" y="1935479"/>
            <a:ext cx="3386614" cy="2547620"/>
          </a:xfrm>
          <a:prstGeom prst="roundRect">
            <a:avLst>
              <a:gd name="adj" fmla="val 4985"/>
            </a:avLst>
          </a:prstGeom>
          <a:solidFill>
            <a:srgbClr val="FBF8F1"/>
          </a:solidFill>
          <a:ln/>
        </p:spPr>
      </p:sp>
      <p:sp>
        <p:nvSpPr>
          <p:cNvPr id="5" name="Shape 3"/>
          <p:cNvSpPr/>
          <p:nvPr/>
        </p:nvSpPr>
        <p:spPr>
          <a:xfrm>
            <a:off x="812800" y="1935479"/>
            <a:ext cx="3386614" cy="2547620"/>
          </a:xfrm>
          <a:custGeom>
            <a:avLst/>
            <a:gdLst/>
            <a:ahLst/>
            <a:cxnLst/>
            <a:rect l="l" t="t" r="r" b="b"/>
            <a:pathLst>
              <a:path w="3386614" h="2547620">
                <a:moveTo>
                  <a:pt x="0" y="127000"/>
                </a:moveTo>
                <a:lnTo>
                  <a:pt x="0" y="127000"/>
                </a:lnTo>
                <a:arcTo hR="127000" wR="127000" stAng="10800000" swAng="5400000"/>
                <a:lnTo>
                  <a:pt x="3259614" y="0"/>
                </a:lnTo>
                <a:arcTo hR="127000" wR="127000" stAng="16200000" swAng="5400000"/>
                <a:lnTo>
                  <a:pt x="3386614" y="127000"/>
                </a:lnTo>
                <a:arcTo hR="76200" wR="127000" stAng="0" swAng="-5400000"/>
                <a:lnTo>
                  <a:pt x="127000" y="50800"/>
                </a:lnTo>
                <a:arcTo hR="76200" wR="127000" stAng="16200000" swAng="-5400000"/>
                <a:close/>
              </a:path>
            </a:pathLst>
          </a:custGeom>
          <a:solidFill>
            <a:srgbClr val="1E7A4D"/>
          </a:solidFill>
          <a:ln/>
        </p:spPr>
      </p:sp>
      <p:sp>
        <p:nvSpPr>
          <p:cNvPr id="6" name="Text 4"/>
          <p:cNvSpPr/>
          <p:nvPr/>
        </p:nvSpPr>
        <p:spPr>
          <a:xfrm>
            <a:off x="1092200" y="2265679"/>
            <a:ext cx="29126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A4D"/>
                </a:solidFill>
                <a:latin typeface="Inter" pitchFamily="34" charset="0"/>
                <a:ea typeface="Inter" pitchFamily="34" charset="-122"/>
                <a:cs typeface="Inter" pitchFamily="34" charset="-120"/>
              </a:rPr>
              <a:t>OVERLOAD ACHIEVED</a:t>
            </a:r>
            <a:endParaRPr lang="en-US" sz="1200" dirty="0"/>
          </a:p>
        </p:txBody>
      </p:sp>
      <p:sp>
        <p:nvSpPr>
          <p:cNvPr id="7" name="Text 5"/>
          <p:cNvSpPr/>
          <p:nvPr/>
        </p:nvSpPr>
        <p:spPr>
          <a:xfrm>
            <a:off x="1092200" y="2593342"/>
            <a:ext cx="29126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A40"/>
                </a:solidFill>
                <a:latin typeface="Inter" pitchFamily="34" charset="0"/>
                <a:ea typeface="Inter" pitchFamily="34" charset="-122"/>
                <a:cs typeface="Inter" pitchFamily="34" charset="-120"/>
              </a:rPr>
              <a:t>Hit target reps </a:t>
            </a:r>
            <a:r>
              <a:rPr lang="en-US" sz="1400" b="1" dirty="0">
                <a:solidFill>
                  <a:srgbClr val="3B4A40"/>
                </a:solidFill>
                <a:latin typeface="Inter" pitchFamily="34" charset="0"/>
                <a:ea typeface="Inter" pitchFamily="34" charset="-122"/>
                <a:cs typeface="Inter" pitchFamily="34" charset="-120"/>
              </a:rPr>
              <a:t>and</a:t>
            </a:r>
            <a:r>
              <a:rPr lang="en-US" sz="1400" dirty="0">
                <a:solidFill>
                  <a:srgbClr val="3B4A40"/>
                </a:solidFill>
                <a:latin typeface="Inter" pitchFamily="34" charset="0"/>
                <a:ea typeface="Inter" pitchFamily="34" charset="-122"/>
                <a:cs typeface="Inter" pitchFamily="34" charset="-120"/>
              </a:rPr>
              <a:t> form 80% or higher</a:t>
            </a:r>
            <a:endParaRPr lang="en-US" sz="1400" dirty="0"/>
          </a:p>
        </p:txBody>
      </p:sp>
      <p:sp>
        <p:nvSpPr>
          <p:cNvPr id="8" name="Text 6"/>
          <p:cNvSpPr/>
          <p:nvPr/>
        </p:nvSpPr>
        <p:spPr>
          <a:xfrm>
            <a:off x="1092200" y="3205479"/>
            <a:ext cx="291264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E1511"/>
                </a:solidFill>
                <a:latin typeface="Sora" pitchFamily="34" charset="0"/>
                <a:ea typeface="Sora" pitchFamily="34" charset="-122"/>
                <a:cs typeface="Sora" pitchFamily="34" charset="-120"/>
              </a:rPr>
              <a:t>+2.5 kg</a:t>
            </a:r>
            <a:endParaRPr lang="en-US" sz="3600" dirty="0"/>
          </a:p>
        </p:txBody>
      </p:sp>
      <p:sp>
        <p:nvSpPr>
          <p:cNvPr id="9" name="Text 7"/>
          <p:cNvSpPr/>
          <p:nvPr/>
        </p:nvSpPr>
        <p:spPr>
          <a:xfrm>
            <a:off x="1092200" y="3776979"/>
            <a:ext cx="29126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40"/>
                </a:solidFill>
                <a:latin typeface="Inter" pitchFamily="34" charset="0"/>
                <a:ea typeface="Inter" pitchFamily="34" charset="-122"/>
                <a:cs typeface="Inter" pitchFamily="34" charset="-120"/>
              </a:rPr>
              <a:t>Bodyweight: +1 rep. Earns 10 Fit Points per valid rep.</a:t>
            </a:r>
            <a:endParaRPr lang="en-US" sz="1200" dirty="0"/>
          </a:p>
        </p:txBody>
      </p:sp>
      <p:sp>
        <p:nvSpPr>
          <p:cNvPr id="10" name="Shape 8"/>
          <p:cNvSpPr/>
          <p:nvPr/>
        </p:nvSpPr>
        <p:spPr>
          <a:xfrm>
            <a:off x="4402614" y="1935479"/>
            <a:ext cx="3386693" cy="2547620"/>
          </a:xfrm>
          <a:prstGeom prst="roundRect">
            <a:avLst>
              <a:gd name="adj" fmla="val 4985"/>
            </a:avLst>
          </a:prstGeom>
          <a:solidFill>
            <a:srgbClr val="FBF8F1"/>
          </a:solidFill>
          <a:ln/>
        </p:spPr>
      </p:sp>
      <p:sp>
        <p:nvSpPr>
          <p:cNvPr id="11" name="Shape 9"/>
          <p:cNvSpPr/>
          <p:nvPr/>
        </p:nvSpPr>
        <p:spPr>
          <a:xfrm>
            <a:off x="4402614" y="1935479"/>
            <a:ext cx="3386693" cy="2547620"/>
          </a:xfrm>
          <a:custGeom>
            <a:avLst/>
            <a:gdLst/>
            <a:ahLst/>
            <a:cxnLst/>
            <a:rect l="l" t="t" r="r" b="b"/>
            <a:pathLst>
              <a:path w="3386693" h="2547620">
                <a:moveTo>
                  <a:pt x="0" y="127000"/>
                </a:moveTo>
                <a:lnTo>
                  <a:pt x="0" y="127000"/>
                </a:lnTo>
                <a:arcTo hR="127000" wR="127000" stAng="10800000" swAng="5400000"/>
                <a:lnTo>
                  <a:pt x="3259693" y="0"/>
                </a:lnTo>
                <a:arcTo hR="127000" wR="127000" stAng="16200000" swAng="5400000"/>
                <a:lnTo>
                  <a:pt x="3386693" y="127000"/>
                </a:lnTo>
                <a:arcTo hR="76200" wR="127000" stAng="0" swAng="-5400000"/>
                <a:lnTo>
                  <a:pt x="127000" y="50800"/>
                </a:lnTo>
                <a:arcTo hR="76200" wR="127000" stAng="16200000" swAng="-5400000"/>
                <a:close/>
              </a:path>
            </a:pathLst>
          </a:custGeom>
          <a:solidFill>
            <a:srgbClr val="9C7A3E"/>
          </a:solidFill>
          <a:ln/>
        </p:spPr>
      </p:sp>
      <p:sp>
        <p:nvSpPr>
          <p:cNvPr id="12" name="Text 10"/>
          <p:cNvSpPr/>
          <p:nvPr/>
        </p:nvSpPr>
        <p:spPr>
          <a:xfrm>
            <a:off x="4682014" y="2265679"/>
            <a:ext cx="29127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5C26"/>
                </a:solidFill>
                <a:latin typeface="Inter" pitchFamily="34" charset="0"/>
                <a:ea typeface="Inter" pitchFamily="34" charset="-122"/>
                <a:cs typeface="Inter" pitchFamily="34" charset="-120"/>
              </a:rPr>
              <a:t>FORM GATE</a:t>
            </a:r>
            <a:endParaRPr lang="en-US" sz="1200" dirty="0"/>
          </a:p>
        </p:txBody>
      </p:sp>
      <p:sp>
        <p:nvSpPr>
          <p:cNvPr id="13" name="Text 11"/>
          <p:cNvSpPr/>
          <p:nvPr/>
        </p:nvSpPr>
        <p:spPr>
          <a:xfrm>
            <a:off x="4682014" y="2593342"/>
            <a:ext cx="29127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A40"/>
                </a:solidFill>
                <a:latin typeface="Inter" pitchFamily="34" charset="0"/>
                <a:ea typeface="Inter" pitchFamily="34" charset="-122"/>
                <a:cs typeface="Inter" pitchFamily="34" charset="-120"/>
              </a:rPr>
              <a:t>Hit target reps, but form under 80%</a:t>
            </a:r>
            <a:endParaRPr lang="en-US" sz="1400" dirty="0"/>
          </a:p>
        </p:txBody>
      </p:sp>
      <p:sp>
        <p:nvSpPr>
          <p:cNvPr id="14" name="Text 12"/>
          <p:cNvSpPr/>
          <p:nvPr/>
        </p:nvSpPr>
        <p:spPr>
          <a:xfrm>
            <a:off x="4682014" y="3205479"/>
            <a:ext cx="291273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E1511"/>
                </a:solidFill>
                <a:latin typeface="Sora" pitchFamily="34" charset="0"/>
                <a:ea typeface="Sora" pitchFamily="34" charset="-122"/>
                <a:cs typeface="Sora" pitchFamily="34" charset="-120"/>
              </a:rPr>
              <a:t>Hold</a:t>
            </a:r>
            <a:endParaRPr lang="en-US" sz="3600" dirty="0"/>
          </a:p>
        </p:txBody>
      </p:sp>
      <p:sp>
        <p:nvSpPr>
          <p:cNvPr id="15" name="Text 13"/>
          <p:cNvSpPr/>
          <p:nvPr/>
        </p:nvSpPr>
        <p:spPr>
          <a:xfrm>
            <a:off x="4682014" y="3776979"/>
            <a:ext cx="29127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40"/>
                </a:solidFill>
                <a:latin typeface="Inter" pitchFamily="34" charset="0"/>
                <a:ea typeface="Inter" pitchFamily="34" charset="-122"/>
                <a:cs typeface="Inter" pitchFamily="34" charset="-120"/>
              </a:rPr>
              <a:t>Same weight next time. Zero points for sloppy reps.</a:t>
            </a:r>
            <a:endParaRPr lang="en-US" sz="1200" dirty="0"/>
          </a:p>
        </p:txBody>
      </p:sp>
      <p:sp>
        <p:nvSpPr>
          <p:cNvPr id="16" name="Shape 14"/>
          <p:cNvSpPr/>
          <p:nvPr/>
        </p:nvSpPr>
        <p:spPr>
          <a:xfrm>
            <a:off x="7992507" y="1935479"/>
            <a:ext cx="3386693" cy="2547620"/>
          </a:xfrm>
          <a:prstGeom prst="roundRect">
            <a:avLst>
              <a:gd name="adj" fmla="val 4985"/>
            </a:avLst>
          </a:prstGeom>
          <a:solidFill>
            <a:srgbClr val="FBF8F1"/>
          </a:solidFill>
          <a:ln/>
        </p:spPr>
      </p:sp>
      <p:sp>
        <p:nvSpPr>
          <p:cNvPr id="17" name="Shape 15"/>
          <p:cNvSpPr/>
          <p:nvPr/>
        </p:nvSpPr>
        <p:spPr>
          <a:xfrm>
            <a:off x="7992507" y="1935479"/>
            <a:ext cx="3386693" cy="2547620"/>
          </a:xfrm>
          <a:custGeom>
            <a:avLst/>
            <a:gdLst/>
            <a:ahLst/>
            <a:cxnLst/>
            <a:rect l="l" t="t" r="r" b="b"/>
            <a:pathLst>
              <a:path w="3386693" h="2547620">
                <a:moveTo>
                  <a:pt x="0" y="127000"/>
                </a:moveTo>
                <a:lnTo>
                  <a:pt x="0" y="127000"/>
                </a:lnTo>
                <a:arcTo hR="127000" wR="127000" stAng="10800000" swAng="5400000"/>
                <a:lnTo>
                  <a:pt x="3259693" y="0"/>
                </a:lnTo>
                <a:arcTo hR="127000" wR="127000" stAng="16200000" swAng="5400000"/>
                <a:lnTo>
                  <a:pt x="3386693" y="127000"/>
                </a:lnTo>
                <a:arcTo hR="76200" wR="127000" stAng="0" swAng="-5400000"/>
                <a:lnTo>
                  <a:pt x="127000" y="50800"/>
                </a:lnTo>
                <a:arcTo hR="76200" wR="127000" stAng="16200000" swAng="-5400000"/>
                <a:close/>
              </a:path>
            </a:pathLst>
          </a:custGeom>
          <a:solidFill>
            <a:srgbClr val="B23A3F"/>
          </a:solidFill>
          <a:ln/>
        </p:spPr>
      </p:sp>
      <p:sp>
        <p:nvSpPr>
          <p:cNvPr id="18" name="Text 16"/>
          <p:cNvSpPr/>
          <p:nvPr/>
        </p:nvSpPr>
        <p:spPr>
          <a:xfrm>
            <a:off x="8271907" y="2265679"/>
            <a:ext cx="29127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E2B30"/>
                </a:solidFill>
                <a:latin typeface="Inter" pitchFamily="34" charset="0"/>
                <a:ea typeface="Inter" pitchFamily="34" charset="-122"/>
                <a:cs typeface="Inter" pitchFamily="34" charset="-120"/>
              </a:rPr>
              <a:t>DELOAD</a:t>
            </a:r>
            <a:endParaRPr lang="en-US" sz="1200" dirty="0"/>
          </a:p>
        </p:txBody>
      </p:sp>
      <p:sp>
        <p:nvSpPr>
          <p:cNvPr id="19" name="Text 17"/>
          <p:cNvSpPr/>
          <p:nvPr/>
        </p:nvSpPr>
        <p:spPr>
          <a:xfrm>
            <a:off x="8271907" y="2593342"/>
            <a:ext cx="29127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A40"/>
                </a:solidFill>
                <a:latin typeface="Inter" pitchFamily="34" charset="0"/>
                <a:ea typeface="Inter" pitchFamily="34" charset="-122"/>
                <a:cs typeface="Inter" pitchFamily="34" charset="-120"/>
              </a:rPr>
              <a:t>Missed the target reps</a:t>
            </a:r>
            <a:endParaRPr lang="en-US" sz="1400" dirty="0"/>
          </a:p>
        </p:txBody>
      </p:sp>
      <p:sp>
        <p:nvSpPr>
          <p:cNvPr id="20" name="Text 18"/>
          <p:cNvSpPr/>
          <p:nvPr/>
        </p:nvSpPr>
        <p:spPr>
          <a:xfrm>
            <a:off x="8271907" y="2956564"/>
            <a:ext cx="291273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E1511"/>
                </a:solidFill>
                <a:latin typeface="Sora" pitchFamily="34" charset="0"/>
                <a:ea typeface="Sora" pitchFamily="34" charset="-122"/>
                <a:cs typeface="Sora" pitchFamily="34" charset="-120"/>
              </a:rPr>
              <a:t>−10%</a:t>
            </a:r>
            <a:endParaRPr lang="en-US" sz="3600" dirty="0"/>
          </a:p>
        </p:txBody>
      </p:sp>
      <p:sp>
        <p:nvSpPr>
          <p:cNvPr id="21" name="Text 19"/>
          <p:cNvSpPr/>
          <p:nvPr/>
        </p:nvSpPr>
        <p:spPr>
          <a:xfrm>
            <a:off x="8271907" y="3528064"/>
            <a:ext cx="29127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40"/>
                </a:solidFill>
                <a:latin typeface="Inter" pitchFamily="34" charset="0"/>
                <a:ea typeface="Inter" pitchFamily="34" charset="-122"/>
                <a:cs typeface="Inter" pitchFamily="34" charset="-120"/>
              </a:rPr>
              <a:t>Weight × 0.9. Bodyweight: fewer target reps.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5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62C48E"/>
                </a:solidFill>
                <a:latin typeface="JetBrains Mono" pitchFamily="49" charset="0"/>
                <a:ea typeface="JetBrains Mono" pitchFamily="49" charset="-122"/>
                <a:cs typeface="JetBrains Mono" pitchFamily="49" charset="-120"/>
              </a:rPr>
              <a:t>FEATURE 03 · WORKOUT PLAN + SURVEY</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3E8"/>
                </a:solidFill>
                <a:latin typeface="Sora" pitchFamily="34" charset="0"/>
                <a:ea typeface="Sora" pitchFamily="34" charset="-122"/>
                <a:cs typeface="Sora" pitchFamily="34" charset="-120"/>
              </a:rPr>
              <a:t>A plan that works around your injuries</a:t>
            </a:r>
            <a:endParaRPr lang="en-US" sz="3600" dirty="0"/>
          </a:p>
        </p:txBody>
      </p:sp>
      <p:sp>
        <p:nvSpPr>
          <p:cNvPr id="4" name="Text 2"/>
          <p:cNvSpPr/>
          <p:nvPr/>
        </p:nvSpPr>
        <p:spPr>
          <a:xfrm>
            <a:off x="812800" y="1935479"/>
            <a:ext cx="36626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D4BC8C"/>
                </a:solidFill>
                <a:latin typeface="Sora" pitchFamily="34" charset="0"/>
                <a:ea typeface="Sora" pitchFamily="34" charset="-122"/>
                <a:cs typeface="Sora" pitchFamily="34" charset="-120"/>
              </a:rPr>
              <a:t>The survey asks</a:t>
            </a:r>
            <a:endParaRPr lang="en-US" sz="1600" dirty="0"/>
          </a:p>
        </p:txBody>
      </p:sp>
      <p:sp>
        <p:nvSpPr>
          <p:cNvPr id="5" name="Text 3"/>
          <p:cNvSpPr/>
          <p:nvPr/>
        </p:nvSpPr>
        <p:spPr>
          <a:xfrm>
            <a:off x="897382" y="2306321"/>
            <a:ext cx="3570478" cy="13589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D3DECF"/>
                </a:solidFill>
                <a:latin typeface="Inter" pitchFamily="34" charset="0"/>
                <a:ea typeface="Inter" pitchFamily="34" charset="-122"/>
                <a:cs typeface="Inter" pitchFamily="34" charset="-120"/>
              </a:rPr>
              <a:t>Age, height and weight</a:t>
            </a:r>
            <a:endParaRPr lang="en-US" sz="1400" dirty="0"/>
          </a:p>
          <a:p>
            <a:pPr algn="l" marL="169418" indent="-169418">
              <a:lnSpc>
                <a:spcPts val="2100"/>
              </a:lnSpc>
              <a:buSzPct val="100000"/>
              <a:buChar char="•"/>
            </a:pPr>
            <a:r>
              <a:rPr lang="en-US" sz="1400" dirty="0">
                <a:solidFill>
                  <a:srgbClr val="D3DECF"/>
                </a:solidFill>
                <a:latin typeface="Inter" pitchFamily="34" charset="0"/>
                <a:ea typeface="Inter" pitchFamily="34" charset="-122"/>
                <a:cs typeface="Inter" pitchFamily="34" charset="-120"/>
              </a:rPr>
              <a:t>Experience level</a:t>
            </a:r>
            <a:endParaRPr lang="en-US" sz="1400" dirty="0"/>
          </a:p>
          <a:p>
            <a:pPr algn="l" marL="169418" indent="-169418">
              <a:lnSpc>
                <a:spcPts val="2100"/>
              </a:lnSpc>
              <a:buSzPct val="100000"/>
              <a:buChar char="•"/>
            </a:pPr>
            <a:r>
              <a:rPr lang="en-US" sz="1400" dirty="0">
                <a:solidFill>
                  <a:srgbClr val="D3DECF"/>
                </a:solidFill>
                <a:latin typeface="Inter" pitchFamily="34" charset="0"/>
                <a:ea typeface="Inter" pitchFamily="34" charset="-122"/>
                <a:cs typeface="Inter" pitchFamily="34" charset="-120"/>
              </a:rPr>
              <a:t>Days free: 2 to 5</a:t>
            </a:r>
            <a:endParaRPr lang="en-US" sz="1400" dirty="0"/>
          </a:p>
          <a:p>
            <a:pPr algn="l" marL="169418" indent="-169418">
              <a:lnSpc>
                <a:spcPts val="2100"/>
              </a:lnSpc>
              <a:buSzPct val="100000"/>
              <a:buChar char="•"/>
            </a:pPr>
            <a:r>
              <a:rPr lang="en-US" sz="1400" dirty="0">
                <a:solidFill>
                  <a:srgbClr val="D3DECF"/>
                </a:solidFill>
                <a:latin typeface="Inter" pitchFamily="34" charset="0"/>
                <a:ea typeface="Inter" pitchFamily="34" charset="-122"/>
                <a:cs typeface="Inter" pitchFamily="34" charset="-120"/>
              </a:rPr>
              <a:t>Injuries: knee, lower back, shoulder</a:t>
            </a:r>
            <a:endParaRPr lang="en-US" sz="1400" dirty="0"/>
          </a:p>
          <a:p>
            <a:pPr algn="l" marL="169418" indent="-169418">
              <a:lnSpc>
                <a:spcPts val="2100"/>
              </a:lnSpc>
              <a:buSzPct val="100000"/>
              <a:buChar char="•"/>
            </a:pPr>
            <a:r>
              <a:rPr lang="en-US" sz="1400" dirty="0">
                <a:solidFill>
                  <a:srgbClr val="D3DECF"/>
                </a:solidFill>
                <a:latin typeface="Inter" pitchFamily="34" charset="0"/>
                <a:ea typeface="Inter" pitchFamily="34" charset="-122"/>
                <a:cs typeface="Inter" pitchFamily="34" charset="-120"/>
              </a:rPr>
              <a:t>Goal: strength, muscle or mobility</a:t>
            </a:r>
            <a:endParaRPr lang="en-US" sz="1400" dirty="0"/>
          </a:p>
        </p:txBody>
      </p:sp>
      <p:sp>
        <p:nvSpPr>
          <p:cNvPr id="6" name="Text 4"/>
          <p:cNvSpPr/>
          <p:nvPr/>
        </p:nvSpPr>
        <p:spPr>
          <a:xfrm>
            <a:off x="812800" y="3766821"/>
            <a:ext cx="3662680"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94A598"/>
                </a:solidFill>
                <a:latin typeface="Inter" pitchFamily="34" charset="0"/>
                <a:ea typeface="Inter" pitchFamily="34" charset="-122"/>
                <a:cs typeface="Inter" pitchFamily="34" charset="-120"/>
              </a:rPr>
              <a:t>Rule-based: the same answers always give the same plan, so every choice traces back to a rule. After each workout a summary shows points, form score and the next-session advice.</a:t>
            </a:r>
            <a:endParaRPr lang="en-US" sz="1200" dirty="0"/>
          </a:p>
        </p:txBody>
      </p:sp>
      <p:sp>
        <p:nvSpPr>
          <p:cNvPr id="7" name="Text 5"/>
          <p:cNvSpPr/>
          <p:nvPr/>
        </p:nvSpPr>
        <p:spPr>
          <a:xfrm>
            <a:off x="4724400" y="1935479"/>
            <a:ext cx="68544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D4BC8C"/>
                </a:solidFill>
                <a:latin typeface="Sora" pitchFamily="34" charset="0"/>
                <a:ea typeface="Sora" pitchFamily="34" charset="-122"/>
                <a:cs typeface="Sora" pitchFamily="34" charset="-120"/>
              </a:rPr>
              <a:t>Injury swaps, automatically</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734560" y="2316481"/>
          <a:ext cx="6644640" cy="2498090"/>
        </p:xfrm>
        <a:graphic>
          <a:graphicData uri="http://schemas.openxmlformats.org/drawingml/2006/table">
            <a:tbl>
              <a:tblPr/>
              <a:tblGrid>
                <a:gridCol w="1461821"/>
                <a:gridCol w="2591410"/>
                <a:gridCol w="2591410"/>
              </a:tblGrid>
              <a:tr h="356870">
                <a:tc>
                  <a:txBody>
                    <a:bodyPr/>
                    <a:lstStyle/>
                    <a:p>
                      <a:pPr indent="0" marL="0">
                        <a:lnSpc>
                          <a:spcPts val="1820"/>
                        </a:lnSpc>
                        <a:buNone/>
                      </a:pPr>
                      <a:r>
                        <a:rPr lang="en-US" sz="1300" b="1" dirty="0">
                          <a:solidFill>
                            <a:srgbClr val="EEF3E8"/>
                          </a:solidFill>
                          <a:latin typeface="Inter" pitchFamily="34" charset="0"/>
                          <a:ea typeface="Inter" pitchFamily="34" charset="-122"/>
                          <a:cs typeface="Inter" pitchFamily="34" charset="-120"/>
                        </a:rPr>
                        <a:t>Injury</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D554F"/>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D554F"/>
                      </a:solidFill>
                      <a:prstDash val="solid"/>
                      <a:round/>
                      <a:headEnd type="none" w="med" len="med"/>
                      <a:tailEnd type="none" w="med" len="med"/>
                    </a:lnB>
                    <a:solidFill>
                      <a:srgbClr val="1C2720"/>
                    </a:solidFill>
                  </a:tcPr>
                </a:tc>
                <a:tc>
                  <a:txBody>
                    <a:bodyPr/>
                    <a:lstStyle/>
                    <a:p>
                      <a:pPr indent="0" marL="0">
                        <a:lnSpc>
                          <a:spcPts val="1820"/>
                        </a:lnSpc>
                        <a:buNone/>
                      </a:pPr>
                      <a:r>
                        <a:rPr lang="en-US" sz="1300" b="1" dirty="0">
                          <a:solidFill>
                            <a:srgbClr val="EEF3E8"/>
                          </a:solidFill>
                          <a:latin typeface="Inter" pitchFamily="34" charset="0"/>
                          <a:ea typeface="Inter" pitchFamily="34" charset="-122"/>
                          <a:cs typeface="Inter" pitchFamily="34" charset="-120"/>
                        </a:rPr>
                        <a:t>Instead of</a:t>
                      </a:r>
                      <a:endParaRPr lang="en-US" sz="1300" dirty="0">
                        <a:latin typeface="Inter" charset="0"/>
                        <a:ea typeface="Inter" charset="0"/>
                        <a:cs typeface="Inter" charset="0"/>
                      </a:endParaRPr>
                    </a:p>
                  </a:txBody>
                  <a:tcPr marL="57785" marR="57785" marT="57785" marB="57785" anchor="t">
                    <a:lnL w="12700" cap="flat" cmpd="sng" algn="ctr">
                      <a:solidFill>
                        <a:srgbClr val="4D554F"/>
                      </a:solidFill>
                      <a:prstDash val="solid"/>
                      <a:round/>
                      <a:headEnd type="none" w="med" len="med"/>
                      <a:tailEnd type="none" w="med" len="med"/>
                    </a:lnL>
                    <a:lnR w="12700" cap="flat" cmpd="sng" algn="ctr">
                      <a:solidFill>
                        <a:srgbClr val="4D554F"/>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D554F"/>
                      </a:solidFill>
                      <a:prstDash val="solid"/>
                      <a:round/>
                      <a:headEnd type="none" w="med" len="med"/>
                      <a:tailEnd type="none" w="med" len="med"/>
                    </a:lnB>
                    <a:solidFill>
                      <a:srgbClr val="1C2720"/>
                    </a:solidFill>
                  </a:tcPr>
                </a:tc>
                <a:tc>
                  <a:txBody>
                    <a:bodyPr/>
                    <a:lstStyle/>
                    <a:p>
                      <a:pPr indent="0" marL="0">
                        <a:lnSpc>
                          <a:spcPts val="1820"/>
                        </a:lnSpc>
                        <a:buNone/>
                      </a:pPr>
                      <a:r>
                        <a:rPr lang="en-US" sz="1300" b="1" dirty="0">
                          <a:solidFill>
                            <a:srgbClr val="EEF3E8"/>
                          </a:solidFill>
                          <a:latin typeface="Inter" pitchFamily="34" charset="0"/>
                          <a:ea typeface="Inter" pitchFamily="34" charset="-122"/>
                          <a:cs typeface="Inter" pitchFamily="34" charset="-120"/>
                        </a:rPr>
                        <a:t>You get</a:t>
                      </a:r>
                      <a:endParaRPr lang="en-US" sz="1300" dirty="0">
                        <a:latin typeface="Inter" charset="0"/>
                        <a:ea typeface="Inter" charset="0"/>
                        <a:cs typeface="Inter" charset="0"/>
                      </a:endParaRPr>
                    </a:p>
                  </a:txBody>
                  <a:tcPr marL="57785" marR="57785" marT="57785" marB="57785" anchor="t">
                    <a:lnL w="12700" cap="flat" cmpd="sng" algn="ctr">
                      <a:solidFill>
                        <a:srgbClr val="4D554F"/>
                      </a:solidFill>
                      <a:prstDash val="solid"/>
                      <a:round/>
                      <a:headEnd type="none" w="med" len="med"/>
                      <a:tailEnd type="none" w="med" len="med"/>
                    </a:lnL>
                    <a:lnR w="12700" cap="flat" cmpd="sng" algn="ctr">
                      <a:solidFill>
                        <a:srgbClr val="4D554F"/>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D554F"/>
                      </a:solidFill>
                      <a:prstDash val="solid"/>
                      <a:round/>
                      <a:headEnd type="none" w="med" len="med"/>
                      <a:tailEnd type="none" w="med" len="med"/>
                    </a:lnB>
                    <a:solidFill>
                      <a:srgbClr val="1C2720"/>
                    </a:solidFill>
                  </a:tcPr>
                </a:tc>
              </a:tr>
              <a:tr h="356870">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Knee</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D554F"/>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Walking Lunges</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D554F"/>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c>
                  <a:txBody>
                    <a:bodyPr/>
                    <a:lstStyle/>
                    <a:p>
                      <a:pPr indent="0" marL="0">
                        <a:lnSpc>
                          <a:spcPts val="1820"/>
                        </a:lnSpc>
                        <a:buNone/>
                      </a:pPr>
                      <a:r>
                        <a:rPr lang="en-US" sz="1300" dirty="0">
                          <a:solidFill>
                            <a:srgbClr val="62C48E"/>
                          </a:solidFill>
                          <a:latin typeface="Inter" pitchFamily="34" charset="0"/>
                          <a:ea typeface="Inter" pitchFamily="34" charset="-122"/>
                          <a:cs typeface="Inter" pitchFamily="34" charset="-120"/>
                        </a:rPr>
                        <a:t>Glute Bridge</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D554F"/>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r>
              <a:tr h="356870">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Knee</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Box Jumps</a:t>
                      </a:r>
                      <a:endParaRPr lang="en-US" sz="1300" dirty="0">
                        <a:latin typeface="Inter" charset="0"/>
                        <a:ea typeface="Inter" charset="0"/>
                        <a:cs typeface="Inter" charset="0"/>
                      </a:endParaRPr>
                    </a:p>
                  </a:txBody>
                  <a:tcPr marL="57785" marR="57785" marT="57785" marB="57785" anchor="t">
                    <a:lnL w="12700" cap="flat" cmpd="sng" algn="ctr">
                      <a:solidFill>
                        <a:srgbClr val="464C47"/>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c>
                  <a:txBody>
                    <a:bodyPr/>
                    <a:lstStyle/>
                    <a:p>
                      <a:pPr indent="0" marL="0">
                        <a:lnSpc>
                          <a:spcPts val="1820"/>
                        </a:lnSpc>
                        <a:buNone/>
                      </a:pPr>
                      <a:r>
                        <a:rPr lang="en-US" sz="1300" dirty="0">
                          <a:solidFill>
                            <a:srgbClr val="62C48E"/>
                          </a:solidFill>
                          <a:latin typeface="Inter" pitchFamily="34" charset="0"/>
                          <a:ea typeface="Inter" pitchFamily="34" charset="-122"/>
                          <a:cs typeface="Inter" pitchFamily="34" charset="-120"/>
                        </a:rPr>
                        <a:t>Hamstring Curl</a:t>
                      </a:r>
                      <a:endParaRPr lang="en-US" sz="1300" dirty="0">
                        <a:latin typeface="Inter" charset="0"/>
                        <a:ea typeface="Inter" charset="0"/>
                        <a:cs typeface="Inter" charset="0"/>
                      </a:endParaRPr>
                    </a:p>
                  </a:txBody>
                  <a:tcPr marL="57785" marR="57785" marT="57785" marB="57785" anchor="t">
                    <a:lnL w="12700" cap="flat" cmpd="sng" algn="ctr">
                      <a:solidFill>
                        <a:srgbClr val="464C47"/>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r>
              <a:tr h="356870">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Lower back</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64C47"/>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Romanian Deadlift</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64C47"/>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c>
                  <a:txBody>
                    <a:bodyPr/>
                    <a:lstStyle/>
                    <a:p>
                      <a:pPr indent="0" marL="0">
                        <a:lnSpc>
                          <a:spcPts val="1820"/>
                        </a:lnSpc>
                        <a:buNone/>
                      </a:pPr>
                      <a:r>
                        <a:rPr lang="en-US" sz="1300" dirty="0">
                          <a:solidFill>
                            <a:srgbClr val="62C48E"/>
                          </a:solidFill>
                          <a:latin typeface="Inter" pitchFamily="34" charset="0"/>
                          <a:ea typeface="Inter" pitchFamily="34" charset="-122"/>
                          <a:cs typeface="Inter" pitchFamily="34" charset="-120"/>
                        </a:rPr>
                        <a:t>Hip Thrust</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64C47"/>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r>
              <a:tr h="356870">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Lower back</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Barbell Row</a:t>
                      </a:r>
                      <a:endParaRPr lang="en-US" sz="1300" dirty="0">
                        <a:latin typeface="Inter" charset="0"/>
                        <a:ea typeface="Inter" charset="0"/>
                        <a:cs typeface="Inter" charset="0"/>
                      </a:endParaRPr>
                    </a:p>
                  </a:txBody>
                  <a:tcPr marL="57785" marR="57785" marT="57785" marB="57785" anchor="t">
                    <a:lnL w="12700" cap="flat" cmpd="sng" algn="ctr">
                      <a:solidFill>
                        <a:srgbClr val="464C47"/>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c>
                  <a:txBody>
                    <a:bodyPr/>
                    <a:lstStyle/>
                    <a:p>
                      <a:pPr indent="0" marL="0">
                        <a:lnSpc>
                          <a:spcPts val="1820"/>
                        </a:lnSpc>
                        <a:buNone/>
                      </a:pPr>
                      <a:r>
                        <a:rPr lang="en-US" sz="1300" dirty="0">
                          <a:solidFill>
                            <a:srgbClr val="62C48E"/>
                          </a:solidFill>
                          <a:latin typeface="Inter" pitchFamily="34" charset="0"/>
                          <a:ea typeface="Inter" pitchFamily="34" charset="-122"/>
                          <a:cs typeface="Inter" pitchFamily="34" charset="-120"/>
                        </a:rPr>
                        <a:t>Chest-Supported Row</a:t>
                      </a:r>
                      <a:endParaRPr lang="en-US" sz="1300" dirty="0">
                        <a:latin typeface="Inter" charset="0"/>
                        <a:ea typeface="Inter" charset="0"/>
                        <a:cs typeface="Inter" charset="0"/>
                      </a:endParaRPr>
                    </a:p>
                  </a:txBody>
                  <a:tcPr marL="57785" marR="57785" marT="57785" marB="57785" anchor="t">
                    <a:lnL w="12700" cap="flat" cmpd="sng" algn="ctr">
                      <a:solidFill>
                        <a:srgbClr val="464C47"/>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r>
              <a:tr h="356870">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Shoulder</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64C47"/>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Barbell Bench Press</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64C47"/>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c>
                  <a:txBody>
                    <a:bodyPr/>
                    <a:lstStyle/>
                    <a:p>
                      <a:pPr indent="0" marL="0">
                        <a:lnSpc>
                          <a:spcPts val="1820"/>
                        </a:lnSpc>
                        <a:buNone/>
                      </a:pPr>
                      <a:r>
                        <a:rPr lang="en-US" sz="1300" dirty="0">
                          <a:solidFill>
                            <a:srgbClr val="62C48E"/>
                          </a:solidFill>
                          <a:latin typeface="Inter" pitchFamily="34" charset="0"/>
                          <a:ea typeface="Inter" pitchFamily="34" charset="-122"/>
                          <a:cs typeface="Inter" pitchFamily="34" charset="-120"/>
                        </a:rPr>
                        <a:t>Neutral-Grip DB Press</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24743"/>
                      </a:solidFill>
                      <a:prstDash val="solid"/>
                      <a:round/>
                      <a:headEnd type="none" w="med" len="med"/>
                      <a:tailEnd type="none" w="med" len="med"/>
                    </a:lnR>
                    <a:lnT w="12700" cap="flat" cmpd="sng" algn="ctr">
                      <a:solidFill>
                        <a:srgbClr val="464C47"/>
                      </a:solidFill>
                      <a:prstDash val="solid"/>
                      <a:round/>
                      <a:headEnd type="none" w="med" len="med"/>
                      <a:tailEnd type="none" w="med" len="med"/>
                    </a:lnT>
                    <a:lnB w="12700" cap="flat" cmpd="sng" algn="ctr">
                      <a:solidFill>
                        <a:srgbClr val="424743"/>
                      </a:solidFill>
                      <a:prstDash val="solid"/>
                      <a:round/>
                      <a:headEnd type="none" w="med" len="med"/>
                      <a:tailEnd type="none" w="med" len="med"/>
                    </a:lnB>
                  </a:tcPr>
                </a:tc>
              </a:tr>
              <a:tr h="356870">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Shoulder</a:t>
                      </a:r>
                      <a:endParaRPr lang="en-US" sz="1300" dirty="0">
                        <a:latin typeface="Inter" charset="0"/>
                        <a:ea typeface="Inter" charset="0"/>
                        <a:cs typeface="Inter" charset="0"/>
                      </a:endParaRPr>
                    </a:p>
                  </a:txBody>
                  <a:tcPr marL="57785" marR="57785" marT="57785" marB="57785" anchor="t">
                    <a:lnL w="12700" cap="flat" cmpd="sng" algn="ctr">
                      <a:solidFill>
                        <a:srgbClr val="424743"/>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c>
                  <a:txBody>
                    <a:bodyPr/>
                    <a:lstStyle/>
                    <a:p>
                      <a:pPr indent="0" marL="0">
                        <a:lnSpc>
                          <a:spcPts val="1820"/>
                        </a:lnSpc>
                        <a:buNone/>
                      </a:pPr>
                      <a:r>
                        <a:rPr lang="en-US" sz="1300" dirty="0">
                          <a:solidFill>
                            <a:srgbClr val="EEF3E8"/>
                          </a:solidFill>
                          <a:latin typeface="Inter" pitchFamily="34" charset="0"/>
                          <a:ea typeface="Inter" pitchFamily="34" charset="-122"/>
                          <a:cs typeface="Inter" pitchFamily="34" charset="-120"/>
                        </a:rPr>
                        <a:t>Lateral Raises</a:t>
                      </a:r>
                      <a:endParaRPr lang="en-US" sz="1300" dirty="0">
                        <a:latin typeface="Inter" charset="0"/>
                        <a:ea typeface="Inter" charset="0"/>
                        <a:cs typeface="Inter" charset="0"/>
                      </a:endParaRPr>
                    </a:p>
                  </a:txBody>
                  <a:tcPr marL="57785" marR="57785" marT="57785" marB="57785" anchor="t">
                    <a:lnL w="12700" cap="flat" cmpd="sng" algn="ctr">
                      <a:solidFill>
                        <a:srgbClr val="464C47"/>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c>
                  <a:txBody>
                    <a:bodyPr/>
                    <a:lstStyle/>
                    <a:p>
                      <a:pPr indent="0" marL="0">
                        <a:lnSpc>
                          <a:spcPts val="1820"/>
                        </a:lnSpc>
                        <a:buNone/>
                      </a:pPr>
                      <a:r>
                        <a:rPr lang="en-US" sz="1300" dirty="0">
                          <a:solidFill>
                            <a:srgbClr val="62C48E"/>
                          </a:solidFill>
                          <a:latin typeface="Inter" pitchFamily="34" charset="0"/>
                          <a:ea typeface="Inter" pitchFamily="34" charset="-122"/>
                          <a:cs typeface="Inter" pitchFamily="34" charset="-120"/>
                        </a:rPr>
                        <a:t>Band External Rotations</a:t>
                      </a:r>
                      <a:endParaRPr lang="en-US" sz="1300" dirty="0">
                        <a:latin typeface="Inter" charset="0"/>
                        <a:ea typeface="Inter" charset="0"/>
                        <a:cs typeface="Inter" charset="0"/>
                      </a:endParaRPr>
                    </a:p>
                  </a:txBody>
                  <a:tcPr marL="57785" marR="57785" marT="57785" marB="57785" anchor="t">
                    <a:lnL w="12700" cap="flat" cmpd="sng" algn="ctr">
                      <a:solidFill>
                        <a:srgbClr val="464C47"/>
                      </a:solidFill>
                      <a:prstDash val="solid"/>
                      <a:round/>
                      <a:headEnd type="none" w="med" len="med"/>
                      <a:tailEnd type="none" w="med" len="med"/>
                    </a:lnL>
                    <a:lnR w="12700" cap="flat" cmpd="sng" algn="ctr">
                      <a:solidFill>
                        <a:srgbClr val="464C47"/>
                      </a:solidFill>
                      <a:prstDash val="solid"/>
                      <a:round/>
                      <a:headEnd type="none" w="med" len="med"/>
                      <a:tailEnd type="none" w="med" len="med"/>
                    </a:lnR>
                    <a:lnT w="12700" cap="flat" cmpd="sng" algn="ctr">
                      <a:solidFill>
                        <a:srgbClr val="424743"/>
                      </a:solidFill>
                      <a:prstDash val="solid"/>
                      <a:round/>
                      <a:headEnd type="none" w="med" len="med"/>
                      <a:tailEnd type="none" w="med" len="med"/>
                    </a:lnT>
                    <a:lnB w="12700" cap="flat" cmpd="sng" algn="ctr">
                      <a:solidFill>
                        <a:srgbClr val="464C47"/>
                      </a:solidFill>
                      <a:prstDash val="solid"/>
                      <a:round/>
                      <a:headEnd type="none" w="med" len="med"/>
                      <a:tailEnd type="none" w="med" len="med"/>
                    </a:lnB>
                    <a:solidFill>
                      <a:srgbClr val="131B16"/>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5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62C48E"/>
                </a:solidFill>
                <a:latin typeface="JetBrains Mono" pitchFamily="49" charset="0"/>
                <a:ea typeface="JetBrains Mono" pitchFamily="49" charset="-122"/>
                <a:cs typeface="JetBrains Mono" pitchFamily="49" charset="-120"/>
              </a:rPr>
              <a:t>FEATURE 04 · HEALTH CHATBOT</a:t>
            </a:r>
            <a:endParaRPr lang="en-US" sz="1200" dirty="0"/>
          </a:p>
        </p:txBody>
      </p:sp>
      <p:sp>
        <p:nvSpPr>
          <p:cNvPr id="3" name="Text 1"/>
          <p:cNvSpPr/>
          <p:nvPr>
            <p:ph type="title"/>
          </p:nvPr>
        </p:nvSpPr>
        <p:spPr>
          <a:xfrm>
            <a:off x="812800" y="1127764"/>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3E8"/>
                </a:solidFill>
                <a:latin typeface="Sora" pitchFamily="34" charset="0"/>
                <a:ea typeface="Sora" pitchFamily="34" charset="-122"/>
                <a:cs typeface="Sora" pitchFamily="34" charset="-120"/>
              </a:rPr>
              <a:t>A coach in your pocket that answers in seconds</a:t>
            </a:r>
            <a:endParaRPr lang="en-US" sz="3600" dirty="0"/>
          </a:p>
        </p:txBody>
      </p:sp>
      <p:sp>
        <p:nvSpPr>
          <p:cNvPr id="4" name="Shape 2"/>
          <p:cNvSpPr/>
          <p:nvPr/>
        </p:nvSpPr>
        <p:spPr>
          <a:xfrm>
            <a:off x="815975" y="2441575"/>
            <a:ext cx="5073650" cy="2787650"/>
          </a:xfrm>
          <a:prstGeom prst="roundRect">
            <a:avLst>
              <a:gd name="adj" fmla="val 6264"/>
            </a:avLst>
          </a:prstGeom>
          <a:solidFill>
            <a:srgbClr val="151E18"/>
          </a:solidFill>
          <a:ln w="6350">
            <a:solidFill>
              <a:srgbClr val="2A3830"/>
            </a:solidFill>
            <a:prstDash val="solid"/>
          </a:ln>
        </p:spPr>
      </p:sp>
      <p:sp>
        <p:nvSpPr>
          <p:cNvPr id="5" name="Text 3"/>
          <p:cNvSpPr/>
          <p:nvPr/>
        </p:nvSpPr>
        <p:spPr>
          <a:xfrm>
            <a:off x="2712720" y="2697479"/>
            <a:ext cx="2921000" cy="502920"/>
          </a:xfrm>
          <a:prstGeom prst="roundRect">
            <a:avLst>
              <a:gd name="adj" fmla="val 30303"/>
            </a:avLst>
          </a:prstGeom>
          <a:solidFill>
            <a:srgbClr val="62C48E"/>
          </a:solidFill>
          <a:ln/>
        </p:spPr>
        <p:txBody>
          <a:bodyPr wrap="square" lIns="133164" tIns="82364" rIns="56202" bIns="56964" rtlCol="0" anchor="t">
            <a:normAutofit/>
          </a:bodyPr>
          <a:lstStyle/>
          <a:p>
            <a:pPr algn="l" indent="0" marL="0">
              <a:lnSpc>
                <a:spcPts val="1960"/>
              </a:lnSpc>
              <a:buNone/>
            </a:pPr>
            <a:r>
              <a:rPr lang="en-US" sz="1400" dirty="0">
                <a:solidFill>
                  <a:srgbClr val="0B1A12"/>
                </a:solidFill>
                <a:latin typeface="Inter" pitchFamily="34" charset="0"/>
                <a:ea typeface="Inter" pitchFamily="34" charset="-122"/>
                <a:cs typeface="Inter" pitchFamily="34" charset="-120"/>
              </a:rPr>
              <a:t>How deep should I squat?</a:t>
            </a:r>
            <a:endParaRPr lang="en-US" sz="1400" dirty="0"/>
          </a:p>
        </p:txBody>
      </p:sp>
      <p:sp>
        <p:nvSpPr>
          <p:cNvPr id="6" name="Shape 4"/>
          <p:cNvSpPr/>
          <p:nvPr/>
        </p:nvSpPr>
        <p:spPr>
          <a:xfrm>
            <a:off x="1071880" y="3352800"/>
            <a:ext cx="3810000" cy="1620520"/>
          </a:xfrm>
          <a:prstGeom prst="roundRect">
            <a:avLst>
              <a:gd name="adj" fmla="val 9404"/>
            </a:avLst>
          </a:prstGeom>
          <a:solidFill>
            <a:srgbClr val="1C2720"/>
          </a:solidFill>
          <a:ln/>
        </p:spPr>
      </p:sp>
      <p:sp>
        <p:nvSpPr>
          <p:cNvPr id="7" name="Text 5"/>
          <p:cNvSpPr/>
          <p:nvPr/>
        </p:nvSpPr>
        <p:spPr>
          <a:xfrm>
            <a:off x="1249680" y="3530600"/>
            <a:ext cx="355803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D4BC8C"/>
                </a:solidFill>
                <a:latin typeface="Inter" pitchFamily="34" charset="0"/>
                <a:ea typeface="Inter" pitchFamily="34" charset="-122"/>
                <a:cs typeface="Inter" pitchFamily="34" charset="-120"/>
              </a:rPr>
              <a:t>JOFIT Coach</a:t>
            </a:r>
            <a:endParaRPr lang="en-US" sz="1300" dirty="0"/>
          </a:p>
        </p:txBody>
      </p:sp>
      <p:sp>
        <p:nvSpPr>
          <p:cNvPr id="8" name="Text 6"/>
          <p:cNvSpPr/>
          <p:nvPr/>
        </p:nvSpPr>
        <p:spPr>
          <a:xfrm>
            <a:off x="1249680" y="3837942"/>
            <a:ext cx="3558032"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3DECF"/>
                </a:solidFill>
                <a:latin typeface="Inter" pitchFamily="34" charset="0"/>
                <a:ea typeface="Inter" pitchFamily="34" charset="-122"/>
                <a:cs typeface="Inter" pitchFamily="34" charset="-120"/>
              </a:rPr>
              <a:t>Aim for thighs parallel, about 90° at the knee. JOFIT counts a rep at 90° or lower. With a sore knee, knee-safe mode counts from about 100°.</a:t>
            </a:r>
            <a:endParaRPr lang="en-US" sz="1300" dirty="0"/>
          </a:p>
        </p:txBody>
      </p:sp>
      <p:sp>
        <p:nvSpPr>
          <p:cNvPr id="9" name="Text 7"/>
          <p:cNvSpPr/>
          <p:nvPr/>
        </p:nvSpPr>
        <p:spPr>
          <a:xfrm>
            <a:off x="6299200" y="2438400"/>
            <a:ext cx="5232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Powered by Google Gemini</a:t>
            </a:r>
            <a:endParaRPr lang="en-US" sz="1600" dirty="0"/>
          </a:p>
        </p:txBody>
      </p:sp>
      <p:sp>
        <p:nvSpPr>
          <p:cNvPr id="10" name="Text 8"/>
          <p:cNvSpPr/>
          <p:nvPr/>
        </p:nvSpPr>
        <p:spPr>
          <a:xfrm>
            <a:off x="6299200" y="2733042"/>
            <a:ext cx="52324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DBF"/>
                </a:solidFill>
                <a:latin typeface="Inter" pitchFamily="34" charset="0"/>
                <a:ea typeface="Inter" pitchFamily="34" charset="-122"/>
                <a:cs typeface="Inter" pitchFamily="34" charset="-120"/>
              </a:rPr>
              <a:t>Focused on squat depth, spine and knee safety, overload and Fit Points. Short answers, under 75 words.</a:t>
            </a:r>
            <a:endParaRPr lang="en-US" sz="1400" dirty="0"/>
          </a:p>
        </p:txBody>
      </p:sp>
      <p:sp>
        <p:nvSpPr>
          <p:cNvPr id="11" name="Text 9"/>
          <p:cNvSpPr/>
          <p:nvPr/>
        </p:nvSpPr>
        <p:spPr>
          <a:xfrm>
            <a:off x="6299200" y="3426464"/>
            <a:ext cx="5232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Works offline too</a:t>
            </a:r>
            <a:endParaRPr lang="en-US" sz="1600" dirty="0"/>
          </a:p>
        </p:txBody>
      </p:sp>
      <p:sp>
        <p:nvSpPr>
          <p:cNvPr id="12" name="Text 10"/>
          <p:cNvSpPr/>
          <p:nvPr/>
        </p:nvSpPr>
        <p:spPr>
          <a:xfrm>
            <a:off x="6299200" y="3721100"/>
            <a:ext cx="52324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DBF"/>
                </a:solidFill>
                <a:latin typeface="Inter" pitchFamily="34" charset="0"/>
                <a:ea typeface="Inter" pitchFamily="34" charset="-122"/>
                <a:cs typeface="Inter" pitchFamily="34" charset="-120"/>
              </a:rPr>
              <a:t>No network or no reply in 8 seconds? A built-in answer bank uses the app's own rules.</a:t>
            </a:r>
            <a:endParaRPr lang="en-US" sz="1400" dirty="0"/>
          </a:p>
        </p:txBody>
      </p:sp>
      <p:sp>
        <p:nvSpPr>
          <p:cNvPr id="13" name="Text 11"/>
          <p:cNvSpPr/>
          <p:nvPr/>
        </p:nvSpPr>
        <p:spPr>
          <a:xfrm>
            <a:off x="6299200" y="4414521"/>
            <a:ext cx="5232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Safe by design</a:t>
            </a:r>
            <a:endParaRPr lang="en-US" sz="1600" dirty="0"/>
          </a:p>
        </p:txBody>
      </p:sp>
      <p:sp>
        <p:nvSpPr>
          <p:cNvPr id="14" name="Text 12"/>
          <p:cNvSpPr/>
          <p:nvPr/>
        </p:nvSpPr>
        <p:spPr>
          <a:xfrm>
            <a:off x="6299200" y="4709164"/>
            <a:ext cx="52324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DBF"/>
                </a:solidFill>
                <a:latin typeface="Inter" pitchFamily="34" charset="0"/>
                <a:ea typeface="Inter" pitchFamily="34" charset="-122"/>
                <a:cs typeface="Inter" pitchFamily="34" charset="-120"/>
              </a:rPr>
              <a:t>Pain means see a physiotherapist. An emergency means call 911 in Jordan.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A211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A2111"/>
              </a:gs>
              <a:gs pos="55000">
                <a:srgbClr val="17130C"/>
              </a:gs>
              <a:gs pos="100000">
                <a:srgbClr val="1F1810"/>
              </a:gs>
            </a:gsLst>
            <a:lin ang="3600000" scaled="0"/>
          </a:gradFill>
          <a:ln/>
        </p:spPr>
      </p:sp>
      <p:sp>
        <p:nvSpPr>
          <p:cNvPr id="3" name="Text 1"/>
          <p:cNvSpPr/>
          <p:nvPr/>
        </p:nvSpPr>
        <p:spPr>
          <a:xfrm>
            <a:off x="812800" y="812800"/>
            <a:ext cx="7830941"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D4BC8C"/>
                </a:solidFill>
                <a:latin typeface="JetBrains Mono" pitchFamily="49" charset="0"/>
                <a:ea typeface="JetBrains Mono" pitchFamily="49" charset="-122"/>
                <a:cs typeface="JetBrains Mono" pitchFamily="49" charset="-120"/>
              </a:rPr>
              <a:t>FEATURE 05 · ARABI WALLET</a:t>
            </a:r>
            <a:endParaRPr lang="en-US" sz="1200" dirty="0"/>
          </a:p>
        </p:txBody>
      </p:sp>
      <p:sp>
        <p:nvSpPr>
          <p:cNvPr id="4" name="Text 2"/>
          <p:cNvSpPr/>
          <p:nvPr>
            <p:ph type="title"/>
          </p:nvPr>
        </p:nvSpPr>
        <p:spPr>
          <a:xfrm>
            <a:off x="812800" y="1127764"/>
            <a:ext cx="9123426"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EE2"/>
                </a:solidFill>
                <a:latin typeface="Sora" pitchFamily="34" charset="0"/>
                <a:ea typeface="Sora" pitchFamily="34" charset="-122"/>
                <a:cs typeface="Sora" pitchFamily="34" charset="-120"/>
              </a:rPr>
              <a:t>Clean reps turn into real rewards</a:t>
            </a:r>
            <a:endParaRPr lang="en-US" sz="3600" dirty="0"/>
          </a:p>
        </p:txBody>
      </p:sp>
      <p:pic>
        <p:nvPicPr>
          <p:cNvPr id="5" name="Image 0" descr="Islamic International Arab Bank logo">    </p:cNvPr>
          <p:cNvPicPr>
            <a:picLocks noChangeAspect="1"/>
          </p:cNvPicPr>
          <p:nvPr/>
        </p:nvPicPr>
        <p:blipFill>
          <a:blip r:embed="rId1"/>
          <a:srcRect l="0" r="0" t="0" b="0"/>
          <a:stretch/>
        </p:blipFill>
        <p:spPr>
          <a:xfrm>
            <a:off x="10566400" y="812800"/>
            <a:ext cx="812800" cy="812800"/>
          </a:xfrm>
          <a:prstGeom prst="roundRect">
            <a:avLst>
              <a:gd name="adj" fmla="val 18750"/>
            </a:avLst>
          </a:prstGeom>
        </p:spPr>
      </p:pic>
      <p:sp>
        <p:nvSpPr>
          <p:cNvPr id="6" name="Shape 3"/>
          <p:cNvSpPr/>
          <p:nvPr/>
        </p:nvSpPr>
        <p:spPr>
          <a:xfrm>
            <a:off x="819150" y="1941829"/>
            <a:ext cx="4051300" cy="3888740"/>
          </a:xfrm>
          <a:prstGeom prst="roundRect">
            <a:avLst>
              <a:gd name="adj" fmla="val 5062"/>
            </a:avLst>
          </a:prstGeom>
          <a:solidFill>
            <a:srgbClr val="221B10"/>
          </a:solidFill>
          <a:ln w="12700">
            <a:solidFill>
              <a:srgbClr val="8A7650"/>
            </a:solidFill>
            <a:prstDash val="solid"/>
          </a:ln>
        </p:spPr>
      </p:sp>
      <p:sp>
        <p:nvSpPr>
          <p:cNvPr id="7" name="Text 4"/>
          <p:cNvSpPr/>
          <p:nvPr/>
        </p:nvSpPr>
        <p:spPr>
          <a:xfrm>
            <a:off x="1127760" y="2250442"/>
            <a:ext cx="35371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CFB8"/>
                </a:solidFill>
                <a:latin typeface="Inter" pitchFamily="34" charset="0"/>
                <a:ea typeface="Inter" pitchFamily="34" charset="-122"/>
                <a:cs typeface="Inter" pitchFamily="34" charset="-120"/>
              </a:rPr>
              <a:t>Convert</a:t>
            </a:r>
            <a:endParaRPr lang="en-US" sz="1400" dirty="0"/>
          </a:p>
        </p:txBody>
      </p:sp>
      <p:sp>
        <p:nvSpPr>
          <p:cNvPr id="8" name="Text 5"/>
          <p:cNvSpPr/>
          <p:nvPr/>
        </p:nvSpPr>
        <p:spPr>
          <a:xfrm>
            <a:off x="1127760" y="2626364"/>
            <a:ext cx="353710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3C98E"/>
                </a:solidFill>
                <a:latin typeface="Sora" pitchFamily="34" charset="0"/>
                <a:ea typeface="Sora" pitchFamily="34" charset="-122"/>
                <a:cs typeface="Sora" pitchFamily="34" charset="-120"/>
              </a:rPr>
              <a:t>1,000</a:t>
            </a:r>
            <a:endParaRPr lang="en-US" sz="4800" dirty="0"/>
          </a:p>
        </p:txBody>
      </p:sp>
      <p:sp>
        <p:nvSpPr>
          <p:cNvPr id="9" name="Text 6"/>
          <p:cNvSpPr/>
          <p:nvPr/>
        </p:nvSpPr>
        <p:spPr>
          <a:xfrm>
            <a:off x="1127760" y="3362964"/>
            <a:ext cx="353710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9CFB8"/>
                </a:solidFill>
                <a:latin typeface="Inter" pitchFamily="34" charset="0"/>
                <a:ea typeface="Inter" pitchFamily="34" charset="-122"/>
                <a:cs typeface="Inter" pitchFamily="34" charset="-120"/>
              </a:rPr>
              <a:t>Fit Points</a:t>
            </a:r>
            <a:endParaRPr lang="en-US" sz="1600" dirty="0"/>
          </a:p>
        </p:txBody>
      </p:sp>
      <p:pic>
        <p:nvPicPr>
          <p:cNvPr id="10" name="Image 1" descr="arrow-down">    </p:cNvPr>
          <p:cNvPicPr>
            <a:picLocks noChangeAspect="1"/>
          </p:cNvPicPr>
          <p:nvPr/>
        </p:nvPicPr>
        <p:blipFill>
          <a:blip r:embed="rId2"/>
          <a:srcRect l="0" r="0" t="0" b="0"/>
          <a:stretch/>
        </p:blipFill>
        <p:spPr>
          <a:xfrm>
            <a:off x="1127760" y="3774442"/>
            <a:ext cx="304800" cy="355600"/>
          </a:xfrm>
          <a:prstGeom prst="rect">
            <a:avLst/>
          </a:prstGeom>
        </p:spPr>
      </p:pic>
      <p:sp>
        <p:nvSpPr>
          <p:cNvPr id="11" name="Text 7"/>
          <p:cNvSpPr/>
          <p:nvPr/>
        </p:nvSpPr>
        <p:spPr>
          <a:xfrm>
            <a:off x="1127760" y="4257042"/>
            <a:ext cx="353710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62C48E"/>
                </a:solidFill>
                <a:latin typeface="Sora" pitchFamily="34" charset="0"/>
                <a:ea typeface="Sora" pitchFamily="34" charset="-122"/>
                <a:cs typeface="Sora" pitchFamily="34" charset="-120"/>
              </a:rPr>
              <a:t>100</a:t>
            </a:r>
            <a:endParaRPr lang="en-US" sz="4800" dirty="0"/>
          </a:p>
        </p:txBody>
      </p:sp>
      <p:sp>
        <p:nvSpPr>
          <p:cNvPr id="12" name="Text 8"/>
          <p:cNvSpPr/>
          <p:nvPr/>
        </p:nvSpPr>
        <p:spPr>
          <a:xfrm>
            <a:off x="1127760" y="4993642"/>
            <a:ext cx="3537102"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D9CFB8"/>
                </a:solidFill>
                <a:latin typeface="Inter" pitchFamily="34" charset="0"/>
                <a:ea typeface="Inter" pitchFamily="34" charset="-122"/>
                <a:cs typeface="Inter" pitchFamily="34" charset="-120"/>
              </a:rPr>
              <a:t>Islamic International Arab Bank points</a:t>
            </a:r>
            <a:endParaRPr lang="en-US" sz="1600" dirty="0"/>
          </a:p>
        </p:txBody>
      </p:sp>
      <p:sp>
        <p:nvSpPr>
          <p:cNvPr id="13" name="Text 9"/>
          <p:cNvSpPr/>
          <p:nvPr/>
        </p:nvSpPr>
        <p:spPr>
          <a:xfrm>
            <a:off x="5283200" y="2607314"/>
            <a:ext cx="6278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D4BC8C"/>
                </a:solidFill>
                <a:latin typeface="Sora" pitchFamily="34" charset="0"/>
                <a:ea typeface="Sora" pitchFamily="34" charset="-122"/>
                <a:cs typeface="Sora" pitchFamily="34" charset="-120"/>
              </a:rPr>
              <a:t>Redeem with local partners</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293360" y="2988310"/>
          <a:ext cx="6085840" cy="1534160"/>
        </p:xfrm>
        <a:graphic>
          <a:graphicData uri="http://schemas.openxmlformats.org/drawingml/2006/table">
            <a:tbl>
              <a:tblPr/>
              <a:tblGrid>
                <a:gridCol w="4138371"/>
                <a:gridCol w="1947469"/>
              </a:tblGrid>
              <a:tr h="383540">
                <a:tc>
                  <a:txBody>
                    <a:bodyPr/>
                    <a:lstStyle/>
                    <a:p>
                      <a:pPr indent="0" marL="0">
                        <a:lnSpc>
                          <a:spcPts val="1960"/>
                        </a:lnSpc>
                        <a:buNone/>
                      </a:pPr>
                      <a:r>
                        <a:rPr lang="en-US" sz="1400" b="1" dirty="0">
                          <a:solidFill>
                            <a:srgbClr val="F3EEE2"/>
                          </a:solidFill>
                          <a:latin typeface="Inter" pitchFamily="34" charset="0"/>
                          <a:ea typeface="Inter" pitchFamily="34" charset="-122"/>
                          <a:cs typeface="Inter" pitchFamily="34" charset="-120"/>
                        </a:rPr>
                        <a:t>Voucher</a:t>
                      </a:r>
                      <a:endParaRPr lang="en-US" sz="1400" dirty="0">
                        <a:latin typeface="Inter" charset="0"/>
                        <a:ea typeface="Inter" charset="0"/>
                        <a:cs typeface="Inter" charset="0"/>
                      </a:endParaRPr>
                    </a:p>
                  </a:txBody>
                  <a:tcPr marL="62230" marR="62230" marT="62230" marB="62230" anchor="t">
                    <a:lnL w="12700" cap="flat" cmpd="sng" algn="ctr">
                      <a:solidFill>
                        <a:srgbClr val="585143"/>
                      </a:solidFill>
                      <a:prstDash val="solid"/>
                      <a:round/>
                      <a:headEnd type="none" w="med" len="med"/>
                      <a:tailEnd type="none" w="med" len="med"/>
                    </a:lnL>
                    <a:lnR w="12700" cap="flat" cmpd="sng" algn="ctr">
                      <a:solidFill>
                        <a:srgbClr val="5B5446"/>
                      </a:solidFill>
                      <a:prstDash val="solid"/>
                      <a:round/>
                      <a:headEnd type="none" w="med" len="med"/>
                      <a:tailEnd type="none" w="med" len="med"/>
                    </a:lnR>
                    <a:lnT w="12700" cap="flat" cmpd="sng" algn="ctr">
                      <a:solidFill>
                        <a:srgbClr val="585143"/>
                      </a:solidFill>
                      <a:prstDash val="solid"/>
                      <a:round/>
                      <a:headEnd type="none" w="med" len="med"/>
                      <a:tailEnd type="none" w="med" len="med"/>
                    </a:lnT>
                    <a:lnB w="12700" cap="flat" cmpd="sng" algn="ctr">
                      <a:solidFill>
                        <a:srgbClr val="5B5446"/>
                      </a:solidFill>
                      <a:prstDash val="solid"/>
                      <a:round/>
                      <a:headEnd type="none" w="med" len="med"/>
                      <a:tailEnd type="none" w="med" len="med"/>
                    </a:lnB>
                    <a:solidFill>
                      <a:srgbClr val="2E2615"/>
                    </a:solidFill>
                  </a:tcPr>
                </a:tc>
                <a:tc>
                  <a:txBody>
                    <a:bodyPr/>
                    <a:lstStyle/>
                    <a:p>
                      <a:pPr algn="r" indent="0" marL="0">
                        <a:lnSpc>
                          <a:spcPts val="1960"/>
                        </a:lnSpc>
                        <a:buNone/>
                      </a:pPr>
                      <a:r>
                        <a:rPr lang="en-US" sz="1400" b="1" dirty="0">
                          <a:solidFill>
                            <a:srgbClr val="F3EEE2"/>
                          </a:solidFill>
                          <a:latin typeface="Inter" pitchFamily="34" charset="0"/>
                          <a:ea typeface="Inter" pitchFamily="34" charset="-122"/>
                          <a:cs typeface="Inter" pitchFamily="34" charset="-120"/>
                        </a:rPr>
                        <a:t>Points</a:t>
                      </a:r>
                      <a:endParaRPr lang="en-US" sz="1400" dirty="0">
                        <a:latin typeface="Inter" charset="0"/>
                        <a:ea typeface="Inter" charset="0"/>
                        <a:cs typeface="Inter" charset="0"/>
                      </a:endParaRPr>
                    </a:p>
                  </a:txBody>
                  <a:tcPr marL="62230" marR="62230" marT="62230" marB="62230" anchor="t">
                    <a:lnL w="12700" cap="flat" cmpd="sng" algn="ctr">
                      <a:solidFill>
                        <a:srgbClr val="5B5446"/>
                      </a:solidFill>
                      <a:prstDash val="solid"/>
                      <a:round/>
                      <a:headEnd type="none" w="med" len="med"/>
                      <a:tailEnd type="none" w="med" len="med"/>
                    </a:lnL>
                    <a:lnR w="12700" cap="flat" cmpd="sng" algn="ctr">
                      <a:solidFill>
                        <a:srgbClr val="5B5446"/>
                      </a:solidFill>
                      <a:prstDash val="solid"/>
                      <a:round/>
                      <a:headEnd type="none" w="med" len="med"/>
                      <a:tailEnd type="none" w="med" len="med"/>
                    </a:lnR>
                    <a:lnT w="12700" cap="flat" cmpd="sng" algn="ctr">
                      <a:solidFill>
                        <a:srgbClr val="585143"/>
                      </a:solidFill>
                      <a:prstDash val="solid"/>
                      <a:round/>
                      <a:headEnd type="none" w="med" len="med"/>
                      <a:tailEnd type="none" w="med" len="med"/>
                    </a:lnT>
                    <a:lnB w="12700" cap="flat" cmpd="sng" algn="ctr">
                      <a:solidFill>
                        <a:srgbClr val="5B5446"/>
                      </a:solidFill>
                      <a:prstDash val="solid"/>
                      <a:round/>
                      <a:headEnd type="none" w="med" len="med"/>
                      <a:tailEnd type="none" w="med" len="med"/>
                    </a:lnB>
                    <a:solidFill>
                      <a:srgbClr val="2E2615"/>
                    </a:solidFill>
                  </a:tcPr>
                </a:tc>
              </a:tr>
              <a:tr h="383540">
                <a:tc>
                  <a:txBody>
                    <a:bodyPr/>
                    <a:lstStyle/>
                    <a:p>
                      <a:pPr indent="0" marL="0">
                        <a:lnSpc>
                          <a:spcPts val="1960"/>
                        </a:lnSpc>
                        <a:buNone/>
                      </a:pPr>
                      <a:r>
                        <a:rPr lang="en-US" sz="1400" dirty="0">
                          <a:solidFill>
                            <a:srgbClr val="F3EEE2"/>
                          </a:solidFill>
                          <a:latin typeface="Inter" pitchFamily="34" charset="0"/>
                          <a:ea typeface="Inter" pitchFamily="34" charset="-122"/>
                          <a:cs typeface="Inter" pitchFamily="34" charset="-120"/>
                        </a:rPr>
                        <a:t>Heroes Gym, 1-month pass</a:t>
                      </a:r>
                      <a:endParaRPr lang="en-US" sz="1400" dirty="0">
                        <a:latin typeface="Inter" charset="0"/>
                        <a:ea typeface="Inter" charset="0"/>
                        <a:cs typeface="Inter" charset="0"/>
                      </a:endParaRPr>
                    </a:p>
                  </a:txBody>
                  <a:tcPr marL="62230" marR="62230" marT="62230" marB="62230" anchor="t">
                    <a:lnL w="12700" cap="flat" cmpd="sng" algn="ctr">
                      <a:solidFill>
                        <a:srgbClr val="585143"/>
                      </a:solidFill>
                      <a:prstDash val="solid"/>
                      <a:round/>
                      <a:headEnd type="none" w="med" len="med"/>
                      <a:tailEnd type="none" w="med" len="med"/>
                    </a:lnL>
                    <a:lnR w="12700" cap="flat" cmpd="sng" algn="ctr">
                      <a:solidFill>
                        <a:srgbClr val="585143"/>
                      </a:solidFill>
                      <a:prstDash val="solid"/>
                      <a:round/>
                      <a:headEnd type="none" w="med" len="med"/>
                      <a:tailEnd type="none" w="med" len="med"/>
                    </a:lnR>
                    <a:lnT w="12700" cap="flat" cmpd="sng" algn="ctr">
                      <a:solidFill>
                        <a:srgbClr val="5B5446"/>
                      </a:solidFill>
                      <a:prstDash val="solid"/>
                      <a:round/>
                      <a:headEnd type="none" w="med" len="med"/>
                      <a:tailEnd type="none" w="med" len="med"/>
                    </a:lnT>
                    <a:lnB w="12700" cap="flat" cmpd="sng" algn="ctr">
                      <a:solidFill>
                        <a:srgbClr val="585143"/>
                      </a:solidFill>
                      <a:prstDash val="solid"/>
                      <a:round/>
                      <a:headEnd type="none" w="med" len="med"/>
                      <a:tailEnd type="none" w="med" len="med"/>
                    </a:lnB>
                  </a:tcPr>
                </a:tc>
                <a:tc>
                  <a:txBody>
                    <a:bodyPr/>
                    <a:lstStyle/>
                    <a:p>
                      <a:pPr algn="r" indent="0" marL="0">
                        <a:lnSpc>
                          <a:spcPts val="1960"/>
                        </a:lnSpc>
                        <a:buNone/>
                      </a:pPr>
                      <a:r>
                        <a:rPr lang="en-US" sz="1400" dirty="0">
                          <a:solidFill>
                            <a:srgbClr val="F3EEE2"/>
                          </a:solidFill>
                          <a:latin typeface="Inter" pitchFamily="34" charset="0"/>
                          <a:ea typeface="Inter" pitchFamily="34" charset="-122"/>
                          <a:cs typeface="Inter" pitchFamily="34" charset="-120"/>
                        </a:rPr>
                        <a:t>2,500</a:t>
                      </a:r>
                      <a:endParaRPr lang="en-US" sz="1400" dirty="0">
                        <a:latin typeface="Inter" charset="0"/>
                        <a:ea typeface="Inter" charset="0"/>
                        <a:cs typeface="Inter" charset="0"/>
                      </a:endParaRPr>
                    </a:p>
                  </a:txBody>
                  <a:tcPr marL="62230" marR="62230" marT="62230" marB="62230" anchor="t">
                    <a:lnL w="12700" cap="flat" cmpd="sng" algn="ctr">
                      <a:solidFill>
                        <a:srgbClr val="585143"/>
                      </a:solidFill>
                      <a:prstDash val="solid"/>
                      <a:round/>
                      <a:headEnd type="none" w="med" len="med"/>
                      <a:tailEnd type="none" w="med" len="med"/>
                    </a:lnL>
                    <a:lnR w="12700" cap="flat" cmpd="sng" algn="ctr">
                      <a:solidFill>
                        <a:srgbClr val="585143"/>
                      </a:solidFill>
                      <a:prstDash val="solid"/>
                      <a:round/>
                      <a:headEnd type="none" w="med" len="med"/>
                      <a:tailEnd type="none" w="med" len="med"/>
                    </a:lnR>
                    <a:lnT w="12700" cap="flat" cmpd="sng" algn="ctr">
                      <a:solidFill>
                        <a:srgbClr val="5B5446"/>
                      </a:solidFill>
                      <a:prstDash val="solid"/>
                      <a:round/>
                      <a:headEnd type="none" w="med" len="med"/>
                      <a:tailEnd type="none" w="med" len="med"/>
                    </a:lnT>
                    <a:lnB w="12700" cap="flat" cmpd="sng" algn="ctr">
                      <a:solidFill>
                        <a:srgbClr val="585143"/>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EE2"/>
                          </a:solidFill>
                          <a:latin typeface="Inter" pitchFamily="34" charset="0"/>
                          <a:ea typeface="Inter" pitchFamily="34" charset="-122"/>
                          <a:cs typeface="Inter" pitchFamily="34" charset="-120"/>
                        </a:rPr>
                        <a:t>Primal Amman, 25% off meal plan</a:t>
                      </a:r>
                      <a:endParaRPr lang="en-US" sz="1400" dirty="0">
                        <a:latin typeface="Inter" charset="0"/>
                        <a:ea typeface="Inter" charset="0"/>
                        <a:cs typeface="Inter" charset="0"/>
                      </a:endParaRPr>
                    </a:p>
                  </a:txBody>
                  <a:tcPr marL="62230" marR="62230" marT="62230" marB="62230" anchor="t">
                    <a:lnL w="12700" cap="flat" cmpd="sng" algn="ctr">
                      <a:solidFill>
                        <a:srgbClr val="585143"/>
                      </a:solidFill>
                      <a:prstDash val="solid"/>
                      <a:round/>
                      <a:headEnd type="none" w="med" len="med"/>
                      <a:tailEnd type="none" w="med" len="med"/>
                    </a:lnL>
                    <a:lnR w="12700" cap="flat" cmpd="sng" algn="ctr">
                      <a:solidFill>
                        <a:srgbClr val="4E4A41"/>
                      </a:solidFill>
                      <a:prstDash val="solid"/>
                      <a:round/>
                      <a:headEnd type="none" w="med" len="med"/>
                      <a:tailEnd type="none" w="med" len="med"/>
                    </a:lnR>
                    <a:lnT w="12700" cap="flat" cmpd="sng" algn="ctr">
                      <a:solidFill>
                        <a:srgbClr val="585143"/>
                      </a:solidFill>
                      <a:prstDash val="solid"/>
                      <a:round/>
                      <a:headEnd type="none" w="med" len="med"/>
                      <a:tailEnd type="none" w="med" len="med"/>
                    </a:lnT>
                    <a:lnB w="12700" cap="flat" cmpd="sng" algn="ctr">
                      <a:solidFill>
                        <a:srgbClr val="4E4A41"/>
                      </a:solidFill>
                      <a:prstDash val="solid"/>
                      <a:round/>
                      <a:headEnd type="none" w="med" len="med"/>
                      <a:tailEnd type="none" w="med" len="med"/>
                    </a:lnB>
                    <a:solidFill>
                      <a:srgbClr val="1E180E"/>
                    </a:solidFill>
                  </a:tcPr>
                </a:tc>
                <a:tc>
                  <a:txBody>
                    <a:bodyPr/>
                    <a:lstStyle/>
                    <a:p>
                      <a:pPr algn="r" indent="0" marL="0">
                        <a:lnSpc>
                          <a:spcPts val="1960"/>
                        </a:lnSpc>
                        <a:buNone/>
                      </a:pPr>
                      <a:r>
                        <a:rPr lang="en-US" sz="1400" dirty="0">
                          <a:solidFill>
                            <a:srgbClr val="F3EEE2"/>
                          </a:solidFill>
                          <a:latin typeface="Inter" pitchFamily="34" charset="0"/>
                          <a:ea typeface="Inter" pitchFamily="34" charset="-122"/>
                          <a:cs typeface="Inter" pitchFamily="34" charset="-120"/>
                        </a:rPr>
                        <a:t>1,200</a:t>
                      </a:r>
                      <a:endParaRPr lang="en-US" sz="1400" dirty="0">
                        <a:latin typeface="Inter" charset="0"/>
                        <a:ea typeface="Inter" charset="0"/>
                        <a:cs typeface="Inter" charset="0"/>
                      </a:endParaRPr>
                    </a:p>
                  </a:txBody>
                  <a:tcPr marL="62230" marR="62230" marT="62230" marB="62230" anchor="t">
                    <a:lnL w="12700" cap="flat" cmpd="sng" algn="ctr">
                      <a:solidFill>
                        <a:srgbClr val="4E4A41"/>
                      </a:solidFill>
                      <a:prstDash val="solid"/>
                      <a:round/>
                      <a:headEnd type="none" w="med" len="med"/>
                      <a:tailEnd type="none" w="med" len="med"/>
                    </a:lnL>
                    <a:lnR w="12700" cap="flat" cmpd="sng" algn="ctr">
                      <a:solidFill>
                        <a:srgbClr val="4E4A41"/>
                      </a:solidFill>
                      <a:prstDash val="solid"/>
                      <a:round/>
                      <a:headEnd type="none" w="med" len="med"/>
                      <a:tailEnd type="none" w="med" len="med"/>
                    </a:lnR>
                    <a:lnT w="12700" cap="flat" cmpd="sng" algn="ctr">
                      <a:solidFill>
                        <a:srgbClr val="585143"/>
                      </a:solidFill>
                      <a:prstDash val="solid"/>
                      <a:round/>
                      <a:headEnd type="none" w="med" len="med"/>
                      <a:tailEnd type="none" w="med" len="med"/>
                    </a:lnT>
                    <a:lnB w="12700" cap="flat" cmpd="sng" algn="ctr">
                      <a:solidFill>
                        <a:srgbClr val="4E4A41"/>
                      </a:solidFill>
                      <a:prstDash val="solid"/>
                      <a:round/>
                      <a:headEnd type="none" w="med" len="med"/>
                      <a:tailEnd type="none" w="med" len="med"/>
                    </a:lnB>
                    <a:solidFill>
                      <a:srgbClr val="1E180E"/>
                    </a:solidFill>
                  </a:tcPr>
                </a:tc>
              </a:tr>
              <a:tr h="383540">
                <a:tc>
                  <a:txBody>
                    <a:bodyPr/>
                    <a:lstStyle/>
                    <a:p>
                      <a:pPr indent="0" marL="0">
                        <a:lnSpc>
                          <a:spcPts val="1960"/>
                        </a:lnSpc>
                        <a:buNone/>
                      </a:pPr>
                      <a:r>
                        <a:rPr lang="en-US" sz="1400" dirty="0">
                          <a:solidFill>
                            <a:srgbClr val="F3EEE2"/>
                          </a:solidFill>
                          <a:latin typeface="Inter" pitchFamily="34" charset="0"/>
                          <a:ea typeface="Inter" pitchFamily="34" charset="-122"/>
                          <a:cs typeface="Inter" pitchFamily="34" charset="-120"/>
                        </a:rPr>
                        <a:t>Jordan Nutrition Lab voucher</a:t>
                      </a:r>
                      <a:endParaRPr lang="en-US" sz="1400" dirty="0">
                        <a:latin typeface="Inter" charset="0"/>
                        <a:ea typeface="Inter" charset="0"/>
                        <a:cs typeface="Inter" charset="0"/>
                      </a:endParaRPr>
                    </a:p>
                  </a:txBody>
                  <a:tcPr marL="62230" marR="62230" marT="62230" marB="62230" anchor="t">
                    <a:lnL w="12700" cap="flat" cmpd="sng" algn="ctr">
                      <a:solidFill>
                        <a:srgbClr val="585143"/>
                      </a:solidFill>
                      <a:prstDash val="solid"/>
                      <a:round/>
                      <a:headEnd type="none" w="med" len="med"/>
                      <a:tailEnd type="none" w="med" len="med"/>
                    </a:lnL>
                    <a:lnR w="12700" cap="flat" cmpd="sng" algn="ctr">
                      <a:solidFill>
                        <a:srgbClr val="585143"/>
                      </a:solidFill>
                      <a:prstDash val="solid"/>
                      <a:round/>
                      <a:headEnd type="none" w="med" len="med"/>
                      <a:tailEnd type="none" w="med" len="med"/>
                    </a:lnR>
                    <a:lnT w="12700" cap="flat" cmpd="sng" algn="ctr">
                      <a:solidFill>
                        <a:srgbClr val="4E4A41"/>
                      </a:solidFill>
                      <a:prstDash val="solid"/>
                      <a:round/>
                      <a:headEnd type="none" w="med" len="med"/>
                      <a:tailEnd type="none" w="med" len="med"/>
                    </a:lnT>
                    <a:lnB w="12700" cap="flat" cmpd="sng" algn="ctr">
                      <a:solidFill>
                        <a:srgbClr val="585143"/>
                      </a:solidFill>
                      <a:prstDash val="solid"/>
                      <a:round/>
                      <a:headEnd type="none" w="med" len="med"/>
                      <a:tailEnd type="none" w="med" len="med"/>
                    </a:lnB>
                  </a:tcPr>
                </a:tc>
                <a:tc>
                  <a:txBody>
                    <a:bodyPr/>
                    <a:lstStyle/>
                    <a:p>
                      <a:pPr algn="r" indent="0" marL="0">
                        <a:lnSpc>
                          <a:spcPts val="1960"/>
                        </a:lnSpc>
                        <a:buNone/>
                      </a:pPr>
                      <a:r>
                        <a:rPr lang="en-US" sz="1400" dirty="0">
                          <a:solidFill>
                            <a:srgbClr val="F3EEE2"/>
                          </a:solidFill>
                          <a:latin typeface="Inter" pitchFamily="34" charset="0"/>
                          <a:ea typeface="Inter" pitchFamily="34" charset="-122"/>
                          <a:cs typeface="Inter" pitchFamily="34" charset="-120"/>
                        </a:rPr>
                        <a:t>3,000</a:t>
                      </a:r>
                      <a:endParaRPr lang="en-US" sz="1400" dirty="0">
                        <a:latin typeface="Inter" charset="0"/>
                        <a:ea typeface="Inter" charset="0"/>
                        <a:cs typeface="Inter" charset="0"/>
                      </a:endParaRPr>
                    </a:p>
                  </a:txBody>
                  <a:tcPr marL="62230" marR="62230" marT="62230" marB="62230" anchor="t">
                    <a:lnL w="12700" cap="flat" cmpd="sng" algn="ctr">
                      <a:solidFill>
                        <a:srgbClr val="585143"/>
                      </a:solidFill>
                      <a:prstDash val="solid"/>
                      <a:round/>
                      <a:headEnd type="none" w="med" len="med"/>
                      <a:tailEnd type="none" w="med" len="med"/>
                    </a:lnL>
                    <a:lnR w="12700" cap="flat" cmpd="sng" algn="ctr">
                      <a:solidFill>
                        <a:srgbClr val="585143"/>
                      </a:solidFill>
                      <a:prstDash val="solid"/>
                      <a:round/>
                      <a:headEnd type="none" w="med" len="med"/>
                      <a:tailEnd type="none" w="med" len="med"/>
                    </a:lnR>
                    <a:lnT w="12700" cap="flat" cmpd="sng" algn="ctr">
                      <a:solidFill>
                        <a:srgbClr val="4E4A41"/>
                      </a:solidFill>
                      <a:prstDash val="solid"/>
                      <a:round/>
                      <a:headEnd type="none" w="med" len="med"/>
                      <a:tailEnd type="none" w="med" len="med"/>
                    </a:lnT>
                    <a:lnB w="12700" cap="flat" cmpd="sng" algn="ctr">
                      <a:solidFill>
                        <a:srgbClr val="585143"/>
                      </a:solidFill>
                      <a:prstDash val="solid"/>
                      <a:round/>
                      <a:headEnd type="none" w="med" len="med"/>
                      <a:tailEnd type="none" w="med" len="med"/>
                    </a:lnB>
                  </a:tcPr>
                </a:tc>
              </a:tr>
            </a:tbl>
          </a:graphicData>
        </a:graphic>
      </p:graphicFrame>
      <p:sp>
        <p:nvSpPr>
          <p:cNvPr id="15" name="Text 10"/>
          <p:cNvSpPr/>
          <p:nvPr/>
        </p:nvSpPr>
        <p:spPr>
          <a:xfrm>
            <a:off x="5283200" y="4649471"/>
            <a:ext cx="627888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9CFB8"/>
                </a:solidFill>
                <a:latin typeface="Inter" pitchFamily="34" charset="0"/>
                <a:ea typeface="Inter" pitchFamily="34" charset="-122"/>
                <a:cs typeface="Inter" pitchFamily="34" charset="-120"/>
              </a:rPr>
              <a:t>Each redemption shows a QR code to scan at the partner. Only reps with 80%+ form earn points.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12800" y="636110"/>
            <a:ext cx="6345593"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D4BC8C"/>
                </a:solidFill>
                <a:latin typeface="JetBrains Mono" pitchFamily="49" charset="0"/>
                <a:ea typeface="JetBrains Mono" pitchFamily="49" charset="-122"/>
                <a:cs typeface="JetBrains Mono" pitchFamily="49" charset="-120"/>
              </a:rPr>
              <a:t>FEATURE 06 · GYM LEADERBOARD</a:t>
            </a:r>
            <a:endParaRPr lang="en-US" sz="1200" dirty="0"/>
          </a:p>
        </p:txBody>
      </p:sp>
      <p:sp>
        <p:nvSpPr>
          <p:cNvPr id="3" name="Text 1"/>
          <p:cNvSpPr/>
          <p:nvPr>
            <p:ph type="title"/>
          </p:nvPr>
        </p:nvSpPr>
        <p:spPr>
          <a:xfrm>
            <a:off x="812800" y="925674"/>
            <a:ext cx="6949361"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3E8"/>
                </a:solidFill>
                <a:latin typeface="Sora" pitchFamily="34" charset="0"/>
                <a:ea typeface="Sora" pitchFamily="34" charset="-122"/>
                <a:cs typeface="Sora" pitchFamily="34" charset="-120"/>
              </a:rPr>
              <a:t>Compete on form, not ego</a:t>
            </a:r>
            <a:endParaRPr lang="en-US" sz="3600" dirty="0"/>
          </a:p>
        </p:txBody>
      </p:sp>
      <p:sp>
        <p:nvSpPr>
          <p:cNvPr id="4" name="Text 2"/>
          <p:cNvSpPr/>
          <p:nvPr/>
        </p:nvSpPr>
        <p:spPr>
          <a:xfrm>
            <a:off x="7768511" y="1023460"/>
            <a:ext cx="3604339" cy="398780"/>
          </a:xfrm>
          <a:prstGeom prst="roundRect">
            <a:avLst>
              <a:gd name="adj" fmla="val 50000"/>
            </a:avLst>
          </a:prstGeom>
          <a:solidFill>
            <a:srgbClr val="2A1416"/>
          </a:solidFill>
          <a:ln w="12700">
            <a:solidFill>
              <a:srgbClr val="D9444A"/>
            </a:solidFill>
            <a:prstDash val="solid"/>
          </a:ln>
        </p:spPr>
        <p:txBody>
          <a:bodyPr wrap="none" lIns="0" tIns="0" rIns="0" bIns="0" rtlCol="0" anchor="ctr">
            <a:normAutofit/>
          </a:bodyPr>
          <a:lstStyle/>
          <a:p>
            <a:pPr algn="ctr" indent="0" marL="0">
              <a:lnSpc>
                <a:spcPts val="1680"/>
              </a:lnSpc>
              <a:buNone/>
            </a:pPr>
            <a:r>
              <a:rPr lang="en-US" sz="1200" dirty="0">
                <a:solidFill>
                  <a:srgbClr val="F6D3D3"/>
                </a:solidFill>
                <a:latin typeface="JetBrains Mono" pitchFamily="49" charset="0"/>
                <a:ea typeface="JetBrains Mono" pitchFamily="49" charset="-122"/>
                <a:cs typeface="JetBrains Mono" pitchFamily="49" charset="-120"/>
              </a:rPr>
              <a:t>● LIVE · Heroes Gym Hub · this month</a:t>
            </a:r>
            <a:endParaRPr lang="en-US" sz="1200" dirty="0"/>
          </a:p>
        </p:txBody>
      </p:sp>
      <p:sp>
        <p:nvSpPr>
          <p:cNvPr id="5" name="Text 3"/>
          <p:cNvSpPr/>
          <p:nvPr/>
        </p:nvSpPr>
        <p:spPr>
          <a:xfrm>
            <a:off x="1435100" y="1925557"/>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gradFill rotWithShape="1">
            <a:gsLst>
              <a:gs pos="0">
                <a:srgbClr val="E6EAE1"/>
              </a:gs>
              <a:gs pos="100000">
                <a:srgbClr val="8F9A8C"/>
              </a:gs>
            </a:gsLst>
            <a:lin ang="3000000" scaled="0"/>
          </a:gradFill>
          <a:ln/>
        </p:spPr>
        <p:txBody>
          <a:bodyPr wrap="square" lIns="0" tIns="0" rIns="0" bIns="0" rtlCol="0" anchor="t">
            <a:normAutofit/>
          </a:bodyPr>
          <a:lstStyle/>
          <a:p>
            <a:pPr algn="ctr" indent="0" marL="0">
              <a:lnSpc>
                <a:spcPts val="3200"/>
              </a:lnSpc>
              <a:buNone/>
            </a:pPr>
            <a:r>
              <a:rPr lang="en-US" sz="1600" b="1" dirty="0">
                <a:solidFill>
                  <a:srgbClr val="14201A"/>
                </a:solidFill>
                <a:latin typeface="Sora" pitchFamily="34" charset="0"/>
                <a:ea typeface="Sora" pitchFamily="34" charset="-122"/>
                <a:cs typeface="Sora" pitchFamily="34" charset="-120"/>
              </a:rPr>
              <a:t>2</a:t>
            </a:r>
            <a:endParaRPr lang="en-US" sz="1600" dirty="0"/>
          </a:p>
        </p:txBody>
      </p:sp>
      <p:sp>
        <p:nvSpPr>
          <p:cNvPr id="6" name="Text 4"/>
          <p:cNvSpPr/>
          <p:nvPr/>
        </p:nvSpPr>
        <p:spPr>
          <a:xfrm>
            <a:off x="787400" y="2408157"/>
            <a:ext cx="1701800" cy="52324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EEF3E8"/>
                </a:solidFill>
                <a:latin typeface="Sora" pitchFamily="34" charset="0"/>
                <a:ea typeface="Sora" pitchFamily="34" charset="-122"/>
                <a:cs typeface="Sora" pitchFamily="34" charset="-120"/>
              </a:rPr>
              <a:t>Mohammad Dwiek</a:t>
            </a:r>
            <a:endParaRPr lang="en-US" sz="1400" dirty="0"/>
          </a:p>
        </p:txBody>
      </p:sp>
      <p:sp>
        <p:nvSpPr>
          <p:cNvPr id="7" name="Text 5"/>
          <p:cNvSpPr/>
          <p:nvPr/>
        </p:nvSpPr>
        <p:spPr>
          <a:xfrm>
            <a:off x="1272540" y="2982199"/>
            <a:ext cx="731520"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6EAE1"/>
                </a:solidFill>
                <a:latin typeface="JetBrains Mono" pitchFamily="49" charset="0"/>
                <a:ea typeface="JetBrains Mono" pitchFamily="49" charset="-122"/>
                <a:cs typeface="JetBrains Mono" pitchFamily="49" charset="-120"/>
              </a:rPr>
              <a:t>3,120</a:t>
            </a:r>
            <a:endParaRPr lang="en-US" sz="1600" dirty="0"/>
          </a:p>
        </p:txBody>
      </p:sp>
      <p:sp>
        <p:nvSpPr>
          <p:cNvPr id="8" name="Text 6"/>
          <p:cNvSpPr/>
          <p:nvPr/>
        </p:nvSpPr>
        <p:spPr>
          <a:xfrm>
            <a:off x="868585" y="3342878"/>
            <a:ext cx="153943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8AC"/>
                </a:solidFill>
                <a:latin typeface="Inter" pitchFamily="34" charset="0"/>
                <a:ea typeface="Inter" pitchFamily="34" charset="-122"/>
                <a:cs typeface="Inter" pitchFamily="34" charset="-120"/>
              </a:rPr>
              <a:t>92% form · 110 kg</a:t>
            </a:r>
            <a:endParaRPr lang="en-US" sz="1200" dirty="0"/>
          </a:p>
        </p:txBody>
      </p:sp>
      <p:sp>
        <p:nvSpPr>
          <p:cNvPr id="9" name="Shape 7"/>
          <p:cNvSpPr/>
          <p:nvPr/>
        </p:nvSpPr>
        <p:spPr>
          <a:xfrm>
            <a:off x="812800" y="3632442"/>
            <a:ext cx="1651000" cy="1333500"/>
          </a:xfrm>
          <a:custGeom>
            <a:avLst/>
            <a:gdLst/>
            <a:ahLst/>
            <a:cxnLst/>
            <a:rect l="l" t="t" r="r" b="b"/>
            <a:pathLst>
              <a:path w="1651000" h="1333500">
                <a:moveTo>
                  <a:pt x="114300" y="0"/>
                </a:moveTo>
                <a:lnTo>
                  <a:pt x="1536700" y="0"/>
                </a:lnTo>
                <a:arcTo hR="114300" wR="114300" stAng="16200000" swAng="5400000"/>
                <a:lnTo>
                  <a:pt x="1651000" y="1333500"/>
                </a:lnTo>
                <a:lnTo>
                  <a:pt x="0" y="1333500"/>
                </a:lnTo>
                <a:lnTo>
                  <a:pt x="0" y="114300"/>
                </a:lnTo>
                <a:arcTo hR="114300" wR="114300" stAng="10800000" swAng="5400000"/>
                <a:close/>
              </a:path>
            </a:pathLst>
          </a:custGeom>
          <a:gradFill rotWithShape="1">
            <a:gsLst>
              <a:gs pos="0">
                <a:srgbClr val="8F9A8C"/>
              </a:gs>
              <a:gs pos="100000">
                <a:srgbClr val="3A443C"/>
              </a:gs>
            </a:gsLst>
            <a:lin ang="5400000" scaled="0"/>
          </a:gradFill>
          <a:ln/>
        </p:spPr>
      </p:sp>
      <p:sp>
        <p:nvSpPr>
          <p:cNvPr id="10" name="Text 8"/>
          <p:cNvSpPr/>
          <p:nvPr/>
        </p:nvSpPr>
        <p:spPr>
          <a:xfrm>
            <a:off x="2779847" y="1338821"/>
            <a:ext cx="1272826" cy="238760"/>
          </a:xfrm>
          <a:prstGeom prst="rect">
            <a:avLst/>
          </a:prstGeom>
          <a:noFill/>
          <a:ln/>
        </p:spPr>
        <p:txBody>
          <a:bodyPr wrap="square" lIns="0" tIns="0" rIns="0" bIns="0" rtlCol="0" anchor="t">
            <a:normAutofit/>
          </a:bodyPr>
          <a:lstStyle/>
          <a:p>
            <a:pPr algn="ctr" indent="0" marL="0">
              <a:lnSpc>
                <a:spcPts val="1680"/>
              </a:lnSpc>
              <a:buNone/>
            </a:pPr>
            <a:r>
              <a:rPr lang="en-US" sz="1200" b="1" spc="200" kern="0" dirty="0">
                <a:solidFill>
                  <a:srgbClr val="E3C98E"/>
                </a:solidFill>
                <a:latin typeface="Inter" pitchFamily="34" charset="0"/>
                <a:ea typeface="Inter" pitchFamily="34" charset="-122"/>
                <a:cs typeface="Inter" pitchFamily="34" charset="-120"/>
              </a:rPr>
              <a:t>CHAMPION</a:t>
            </a:r>
            <a:endParaRPr lang="en-US" sz="1200" dirty="0"/>
          </a:p>
        </p:txBody>
      </p:sp>
      <p:sp>
        <p:nvSpPr>
          <p:cNvPr id="11" name="Text 9"/>
          <p:cNvSpPr/>
          <p:nvPr/>
        </p:nvSpPr>
        <p:spPr>
          <a:xfrm>
            <a:off x="3162300" y="1628378"/>
            <a:ext cx="508000" cy="508000"/>
          </a:xfrm>
          <a:custGeom>
            <a:avLst/>
            <a:gdLst/>
            <a:ahLst/>
            <a:cxnLst/>
            <a:rect l="l" t="t" r="r" b="b"/>
            <a:pathLst>
              <a:path w="508000" h="508000">
                <a:moveTo>
                  <a:pt x="254000" y="0"/>
                </a:moveTo>
                <a:lnTo>
                  <a:pt x="254000" y="0"/>
                </a:lnTo>
                <a:arcTo hR="254000" wR="254000" stAng="16200000" swAng="5400000"/>
                <a:lnTo>
                  <a:pt x="508000" y="254000"/>
                </a:lnTo>
                <a:arcTo hR="254000" wR="254000" stAng="0" swAng="5400000"/>
                <a:lnTo>
                  <a:pt x="254000" y="508000"/>
                </a:lnTo>
                <a:arcTo hR="254000" wR="254000" stAng="5400000" swAng="5400000"/>
                <a:lnTo>
                  <a:pt x="0" y="254000"/>
                </a:lnTo>
                <a:arcTo hR="254000" wR="254000" stAng="10800000" swAng="5400000"/>
                <a:close/>
              </a:path>
            </a:pathLst>
          </a:custGeom>
          <a:gradFill rotWithShape="1">
            <a:gsLst>
              <a:gs pos="0">
                <a:srgbClr val="FFF1CC"/>
              </a:gs>
              <a:gs pos="100000">
                <a:srgbClr val="B8964F"/>
              </a:gs>
            </a:gsLst>
            <a:lin ang="3000000" scaled="0"/>
          </a:gradFill>
          <a:ln/>
          <a:effectLst>
            <a:outerShdw sx="100000" sy="100000" kx="0" ky="0" algn="bl" rotWithShape="0" blurRad="254000" dist="0" dir="60000">
              <a:srgbClr val="E3C98E">
                <a:alpha val="55000"/>
              </a:srgbClr>
            </a:outerShdw>
          </a:effectLst>
        </p:spPr>
        <p:txBody>
          <a:bodyPr wrap="square" lIns="0" tIns="0" rIns="0" bIns="0" rtlCol="0" anchor="t">
            <a:normAutofit/>
          </a:bodyPr>
          <a:lstStyle/>
          <a:p>
            <a:pPr algn="ctr" indent="0" marL="0">
              <a:lnSpc>
                <a:spcPts val="4000"/>
              </a:lnSpc>
              <a:buNone/>
            </a:pPr>
            <a:r>
              <a:rPr lang="en-US" sz="2000" b="1" dirty="0">
                <a:solidFill>
                  <a:srgbClr val="2A1E08"/>
                </a:solidFill>
                <a:latin typeface="Sora" pitchFamily="34" charset="0"/>
                <a:ea typeface="Sora" pitchFamily="34" charset="-122"/>
                <a:cs typeface="Sora" pitchFamily="34" charset="-120"/>
              </a:rPr>
              <a:t>1</a:t>
            </a:r>
            <a:endParaRPr lang="en-US" sz="2000" dirty="0"/>
          </a:p>
        </p:txBody>
      </p:sp>
      <p:sp>
        <p:nvSpPr>
          <p:cNvPr id="12" name="Text 10"/>
          <p:cNvSpPr/>
          <p:nvPr/>
        </p:nvSpPr>
        <p:spPr>
          <a:xfrm>
            <a:off x="2657737" y="2212578"/>
            <a:ext cx="1517047"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EEF3E8"/>
                </a:solidFill>
                <a:latin typeface="Sora" pitchFamily="34" charset="0"/>
                <a:ea typeface="Sora" pitchFamily="34" charset="-122"/>
                <a:cs typeface="Sora" pitchFamily="34" charset="-120"/>
              </a:rPr>
              <a:t>Zaid Hammad</a:t>
            </a:r>
            <a:endParaRPr lang="en-US" sz="1400" dirty="0"/>
          </a:p>
        </p:txBody>
      </p:sp>
      <p:sp>
        <p:nvSpPr>
          <p:cNvPr id="13" name="Text 11"/>
          <p:cNvSpPr/>
          <p:nvPr/>
        </p:nvSpPr>
        <p:spPr>
          <a:xfrm>
            <a:off x="3050540" y="2537699"/>
            <a:ext cx="731520"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3C98E"/>
                </a:solidFill>
                <a:latin typeface="JetBrains Mono" pitchFamily="49" charset="0"/>
                <a:ea typeface="JetBrains Mono" pitchFamily="49" charset="-122"/>
                <a:cs typeface="JetBrains Mono" pitchFamily="49" charset="-120"/>
              </a:rPr>
              <a:t>3,450</a:t>
            </a:r>
            <a:endParaRPr lang="en-US" sz="1600" dirty="0"/>
          </a:p>
        </p:txBody>
      </p:sp>
      <p:sp>
        <p:nvSpPr>
          <p:cNvPr id="14" name="Text 12"/>
          <p:cNvSpPr/>
          <p:nvPr/>
        </p:nvSpPr>
        <p:spPr>
          <a:xfrm>
            <a:off x="2627059" y="2898378"/>
            <a:ext cx="157848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8AC"/>
                </a:solidFill>
                <a:latin typeface="Inter" pitchFamily="34" charset="0"/>
                <a:ea typeface="Inter" pitchFamily="34" charset="-122"/>
                <a:cs typeface="Inter" pitchFamily="34" charset="-120"/>
              </a:rPr>
              <a:t>96% form · 120 kg</a:t>
            </a:r>
            <a:endParaRPr lang="en-US" sz="1200" dirty="0"/>
          </a:p>
        </p:txBody>
      </p:sp>
      <p:sp>
        <p:nvSpPr>
          <p:cNvPr id="15" name="Shape 13"/>
          <p:cNvSpPr/>
          <p:nvPr/>
        </p:nvSpPr>
        <p:spPr>
          <a:xfrm>
            <a:off x="2590800" y="3187942"/>
            <a:ext cx="1651000" cy="1778000"/>
          </a:xfrm>
          <a:custGeom>
            <a:avLst/>
            <a:gdLst/>
            <a:ahLst/>
            <a:cxnLst/>
            <a:rect l="l" t="t" r="r" b="b"/>
            <a:pathLst>
              <a:path w="1651000" h="1778000">
                <a:moveTo>
                  <a:pt x="114300" y="0"/>
                </a:moveTo>
                <a:lnTo>
                  <a:pt x="1536700" y="0"/>
                </a:lnTo>
                <a:arcTo hR="114300" wR="114300" stAng="16200000" swAng="5400000"/>
                <a:lnTo>
                  <a:pt x="1651000" y="1778000"/>
                </a:lnTo>
                <a:lnTo>
                  <a:pt x="0" y="1778000"/>
                </a:lnTo>
                <a:lnTo>
                  <a:pt x="0" y="114300"/>
                </a:lnTo>
                <a:arcTo hR="114300" wR="114300" stAng="10800000" swAng="5400000"/>
                <a:close/>
              </a:path>
            </a:pathLst>
          </a:custGeom>
          <a:gradFill rotWithShape="1">
            <a:gsLst>
              <a:gs pos="0">
                <a:srgbClr val="D4BC8C"/>
              </a:gs>
              <a:gs pos="100000">
                <a:srgbClr val="5C4322"/>
              </a:gs>
            </a:gsLst>
            <a:lin ang="5400000" scaled="0"/>
          </a:gradFill>
          <a:ln/>
          <a:effectLst>
            <a:outerShdw sx="100000" sy="100000" kx="0" ky="0" algn="bl" rotWithShape="0" blurRad="381000" dist="0" dir="60000">
              <a:srgbClr val="D4BC8C">
                <a:alpha val="25000"/>
              </a:srgbClr>
            </a:outerShdw>
          </a:effectLst>
        </p:spPr>
      </p:sp>
      <p:sp>
        <p:nvSpPr>
          <p:cNvPr id="16" name="Text 14"/>
          <p:cNvSpPr/>
          <p:nvPr/>
        </p:nvSpPr>
        <p:spPr>
          <a:xfrm>
            <a:off x="4991100" y="2491978"/>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gradFill rotWithShape="1">
            <a:gsLst>
              <a:gs pos="0">
                <a:srgbClr val="E3A574"/>
              </a:gs>
              <a:gs pos="100000">
                <a:srgbClr val="8D5A2A"/>
              </a:gs>
            </a:gsLst>
            <a:lin ang="3000000" scaled="0"/>
          </a:gradFill>
          <a:ln/>
        </p:spPr>
        <p:txBody>
          <a:bodyPr wrap="square" lIns="0" tIns="0" rIns="0" bIns="0" rtlCol="0" anchor="t">
            <a:normAutofit/>
          </a:bodyPr>
          <a:lstStyle/>
          <a:p>
            <a:pPr algn="ctr" indent="0" marL="0">
              <a:lnSpc>
                <a:spcPts val="3200"/>
              </a:lnSpc>
              <a:buNone/>
            </a:pPr>
            <a:r>
              <a:rPr lang="en-US" sz="1600" b="1" dirty="0">
                <a:solidFill>
                  <a:srgbClr val="2A1608"/>
                </a:solidFill>
                <a:latin typeface="Sora" pitchFamily="34" charset="0"/>
                <a:ea typeface="Sora" pitchFamily="34" charset="-122"/>
                <a:cs typeface="Sora" pitchFamily="34" charset="-120"/>
              </a:rPr>
              <a:t>3</a:t>
            </a:r>
            <a:endParaRPr lang="en-US" sz="1600" dirty="0"/>
          </a:p>
        </p:txBody>
      </p:sp>
      <p:sp>
        <p:nvSpPr>
          <p:cNvPr id="17" name="Text 15"/>
          <p:cNvSpPr/>
          <p:nvPr/>
        </p:nvSpPr>
        <p:spPr>
          <a:xfrm>
            <a:off x="4281615" y="2974578"/>
            <a:ext cx="1825371"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EEF3E8"/>
                </a:solidFill>
                <a:latin typeface="Sora" pitchFamily="34" charset="0"/>
                <a:ea typeface="Sora" pitchFamily="34" charset="-122"/>
                <a:cs typeface="Sora" pitchFamily="34" charset="-120"/>
              </a:rPr>
              <a:t>Abdulla Abu Sair</a:t>
            </a:r>
            <a:endParaRPr lang="en-US" sz="1400" dirty="0"/>
          </a:p>
        </p:txBody>
      </p:sp>
      <p:sp>
        <p:nvSpPr>
          <p:cNvPr id="18" name="Text 16"/>
          <p:cNvSpPr/>
          <p:nvPr/>
        </p:nvSpPr>
        <p:spPr>
          <a:xfrm>
            <a:off x="4828540" y="3299699"/>
            <a:ext cx="731520"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3A574"/>
                </a:solidFill>
                <a:latin typeface="JetBrains Mono" pitchFamily="49" charset="0"/>
                <a:ea typeface="JetBrains Mono" pitchFamily="49" charset="-122"/>
                <a:cs typeface="JetBrains Mono" pitchFamily="49" charset="-120"/>
              </a:rPr>
              <a:t>2,890</a:t>
            </a:r>
            <a:endParaRPr lang="en-US" sz="1600" dirty="0"/>
          </a:p>
        </p:txBody>
      </p:sp>
      <p:sp>
        <p:nvSpPr>
          <p:cNvPr id="19" name="Text 17"/>
          <p:cNvSpPr/>
          <p:nvPr/>
        </p:nvSpPr>
        <p:spPr>
          <a:xfrm>
            <a:off x="4405630" y="3660378"/>
            <a:ext cx="157734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8AC"/>
                </a:solidFill>
                <a:latin typeface="Inter" pitchFamily="34" charset="0"/>
                <a:ea typeface="Inter" pitchFamily="34" charset="-122"/>
                <a:cs typeface="Inter" pitchFamily="34" charset="-120"/>
              </a:rPr>
              <a:t>90% form · 105 kg</a:t>
            </a:r>
            <a:endParaRPr lang="en-US" sz="1200" dirty="0"/>
          </a:p>
        </p:txBody>
      </p:sp>
      <p:sp>
        <p:nvSpPr>
          <p:cNvPr id="20" name="Shape 18"/>
          <p:cNvSpPr/>
          <p:nvPr/>
        </p:nvSpPr>
        <p:spPr>
          <a:xfrm>
            <a:off x="4368800" y="3949942"/>
            <a:ext cx="1651000" cy="1016000"/>
          </a:xfrm>
          <a:custGeom>
            <a:avLst/>
            <a:gdLst/>
            <a:ahLst/>
            <a:cxnLst/>
            <a:rect l="l" t="t" r="r" b="b"/>
            <a:pathLst>
              <a:path w="1651000" h="1016000">
                <a:moveTo>
                  <a:pt x="114300" y="0"/>
                </a:moveTo>
                <a:lnTo>
                  <a:pt x="1536700" y="0"/>
                </a:lnTo>
                <a:arcTo hR="114300" wR="114300" stAng="16200000" swAng="5400000"/>
                <a:lnTo>
                  <a:pt x="1651000" y="1016000"/>
                </a:lnTo>
                <a:lnTo>
                  <a:pt x="0" y="1016000"/>
                </a:lnTo>
                <a:lnTo>
                  <a:pt x="0" y="114300"/>
                </a:lnTo>
                <a:arcTo hR="114300" wR="114300" stAng="10800000" swAng="5400000"/>
                <a:close/>
              </a:path>
            </a:pathLst>
          </a:custGeom>
          <a:gradFill rotWithShape="1">
            <a:gsLst>
              <a:gs pos="0">
                <a:srgbClr val="A8825A"/>
              </a:gs>
              <a:gs pos="100000">
                <a:srgbClr val="3E2C1A"/>
              </a:gs>
            </a:gsLst>
            <a:lin ang="5400000" scaled="0"/>
          </a:gradFill>
          <a:ln/>
        </p:spPr>
      </p:sp>
      <p:sp>
        <p:nvSpPr>
          <p:cNvPr id="21" name="Shape 19"/>
          <p:cNvSpPr/>
          <p:nvPr/>
        </p:nvSpPr>
        <p:spPr>
          <a:xfrm>
            <a:off x="6378575" y="1685770"/>
            <a:ext cx="4997450" cy="455930"/>
          </a:xfrm>
          <a:prstGeom prst="roundRect">
            <a:avLst>
              <a:gd name="adj" fmla="val 21588"/>
            </a:avLst>
          </a:prstGeom>
          <a:solidFill>
            <a:srgbClr val="151E18"/>
          </a:solidFill>
          <a:ln w="6350">
            <a:solidFill>
              <a:srgbClr val="2A3830"/>
            </a:solidFill>
            <a:prstDash val="solid"/>
          </a:ln>
        </p:spPr>
      </p:sp>
      <p:sp>
        <p:nvSpPr>
          <p:cNvPr id="22" name="Text 20"/>
          <p:cNvSpPr/>
          <p:nvPr/>
        </p:nvSpPr>
        <p:spPr>
          <a:xfrm>
            <a:off x="6532880" y="1789274"/>
            <a:ext cx="304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4A598"/>
                </a:solidFill>
                <a:latin typeface="JetBrains Mono" pitchFamily="49" charset="0"/>
                <a:ea typeface="JetBrains Mono" pitchFamily="49" charset="-122"/>
                <a:cs typeface="JetBrains Mono" pitchFamily="49" charset="-120"/>
              </a:rPr>
              <a:t>4</a:t>
            </a:r>
            <a:endParaRPr lang="en-US" sz="1400" dirty="0"/>
          </a:p>
        </p:txBody>
      </p:sp>
      <p:sp>
        <p:nvSpPr>
          <p:cNvPr id="23" name="Text 21"/>
          <p:cNvSpPr/>
          <p:nvPr/>
        </p:nvSpPr>
        <p:spPr>
          <a:xfrm>
            <a:off x="6913880" y="1789274"/>
            <a:ext cx="310305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3E8"/>
                </a:solidFill>
                <a:latin typeface="Inter" pitchFamily="34" charset="0"/>
                <a:ea typeface="Inter" pitchFamily="34" charset="-122"/>
                <a:cs typeface="Inter" pitchFamily="34" charset="-120"/>
              </a:rPr>
              <a:t>Wael Haboush</a:t>
            </a:r>
            <a:endParaRPr lang="en-US" sz="1400" dirty="0"/>
          </a:p>
        </p:txBody>
      </p:sp>
      <p:sp>
        <p:nvSpPr>
          <p:cNvPr id="24" name="Text 22"/>
          <p:cNvSpPr/>
          <p:nvPr/>
        </p:nvSpPr>
        <p:spPr>
          <a:xfrm>
            <a:off x="10053558" y="1807052"/>
            <a:ext cx="4111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AC"/>
                </a:solidFill>
                <a:latin typeface="Inter" pitchFamily="34" charset="0"/>
                <a:ea typeface="Inter" pitchFamily="34" charset="-122"/>
                <a:cs typeface="Inter" pitchFamily="34" charset="-120"/>
              </a:rPr>
              <a:t>94%</a:t>
            </a:r>
            <a:endParaRPr lang="en-US" sz="1200" dirty="0"/>
          </a:p>
        </p:txBody>
      </p:sp>
      <p:sp>
        <p:nvSpPr>
          <p:cNvPr id="25" name="Text 23"/>
          <p:cNvSpPr/>
          <p:nvPr/>
        </p:nvSpPr>
        <p:spPr>
          <a:xfrm>
            <a:off x="10472420" y="1789274"/>
            <a:ext cx="7493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EF3E8"/>
                </a:solidFill>
                <a:latin typeface="JetBrains Mono" pitchFamily="49" charset="0"/>
                <a:ea typeface="JetBrains Mono" pitchFamily="49" charset="-122"/>
                <a:cs typeface="JetBrains Mono" pitchFamily="49" charset="-120"/>
              </a:rPr>
              <a:t>2,410</a:t>
            </a:r>
            <a:endParaRPr lang="en-US" sz="1400" dirty="0"/>
          </a:p>
        </p:txBody>
      </p:sp>
      <p:sp>
        <p:nvSpPr>
          <p:cNvPr id="26" name="Shape 24"/>
          <p:cNvSpPr/>
          <p:nvPr/>
        </p:nvSpPr>
        <p:spPr>
          <a:xfrm>
            <a:off x="6378575" y="2224249"/>
            <a:ext cx="4997450" cy="455930"/>
          </a:xfrm>
          <a:prstGeom prst="roundRect">
            <a:avLst>
              <a:gd name="adj" fmla="val 21588"/>
            </a:avLst>
          </a:prstGeom>
          <a:solidFill>
            <a:srgbClr val="151E18"/>
          </a:solidFill>
          <a:ln w="6350">
            <a:solidFill>
              <a:srgbClr val="2A3830"/>
            </a:solidFill>
            <a:prstDash val="solid"/>
          </a:ln>
        </p:spPr>
      </p:sp>
      <p:sp>
        <p:nvSpPr>
          <p:cNvPr id="27" name="Text 25"/>
          <p:cNvSpPr/>
          <p:nvPr/>
        </p:nvSpPr>
        <p:spPr>
          <a:xfrm>
            <a:off x="6532880" y="2327752"/>
            <a:ext cx="304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4A598"/>
                </a:solidFill>
                <a:latin typeface="JetBrains Mono" pitchFamily="49" charset="0"/>
                <a:ea typeface="JetBrains Mono" pitchFamily="49" charset="-122"/>
                <a:cs typeface="JetBrains Mono" pitchFamily="49" charset="-120"/>
              </a:rPr>
              <a:t>5</a:t>
            </a:r>
            <a:endParaRPr lang="en-US" sz="1400" dirty="0"/>
          </a:p>
        </p:txBody>
      </p:sp>
      <p:sp>
        <p:nvSpPr>
          <p:cNvPr id="28" name="Text 26"/>
          <p:cNvSpPr/>
          <p:nvPr/>
        </p:nvSpPr>
        <p:spPr>
          <a:xfrm>
            <a:off x="6913880" y="2327752"/>
            <a:ext cx="310763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3E8"/>
                </a:solidFill>
                <a:latin typeface="Inter" pitchFamily="34" charset="0"/>
                <a:ea typeface="Inter" pitchFamily="34" charset="-122"/>
                <a:cs typeface="Inter" pitchFamily="34" charset="-120"/>
              </a:rPr>
              <a:t>Faris Nasser</a:t>
            </a:r>
            <a:endParaRPr lang="en-US" sz="1400" dirty="0"/>
          </a:p>
        </p:txBody>
      </p:sp>
      <p:sp>
        <p:nvSpPr>
          <p:cNvPr id="29" name="Text 27"/>
          <p:cNvSpPr/>
          <p:nvPr/>
        </p:nvSpPr>
        <p:spPr>
          <a:xfrm>
            <a:off x="10058003" y="2345531"/>
            <a:ext cx="4058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AC"/>
                </a:solidFill>
                <a:latin typeface="Inter" pitchFamily="34" charset="0"/>
                <a:ea typeface="Inter" pitchFamily="34" charset="-122"/>
                <a:cs typeface="Inter" pitchFamily="34" charset="-120"/>
              </a:rPr>
              <a:t>88%</a:t>
            </a:r>
            <a:endParaRPr lang="en-US" sz="1200" dirty="0"/>
          </a:p>
        </p:txBody>
      </p:sp>
      <p:sp>
        <p:nvSpPr>
          <p:cNvPr id="30" name="Text 28"/>
          <p:cNvSpPr/>
          <p:nvPr/>
        </p:nvSpPr>
        <p:spPr>
          <a:xfrm>
            <a:off x="10472420" y="2327752"/>
            <a:ext cx="7493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EF3E8"/>
                </a:solidFill>
                <a:latin typeface="JetBrains Mono" pitchFamily="49" charset="0"/>
                <a:ea typeface="JetBrains Mono" pitchFamily="49" charset="-122"/>
                <a:cs typeface="JetBrains Mono" pitchFamily="49" charset="-120"/>
              </a:rPr>
              <a:t>2,150</a:t>
            </a:r>
            <a:endParaRPr lang="en-US" sz="1400" dirty="0"/>
          </a:p>
        </p:txBody>
      </p:sp>
      <p:sp>
        <p:nvSpPr>
          <p:cNvPr id="31" name="Shape 29"/>
          <p:cNvSpPr/>
          <p:nvPr/>
        </p:nvSpPr>
        <p:spPr>
          <a:xfrm>
            <a:off x="6378575" y="2762727"/>
            <a:ext cx="4997450" cy="455930"/>
          </a:xfrm>
          <a:prstGeom prst="roundRect">
            <a:avLst>
              <a:gd name="adj" fmla="val 21588"/>
            </a:avLst>
          </a:prstGeom>
          <a:solidFill>
            <a:srgbClr val="151E18"/>
          </a:solidFill>
          <a:ln w="6350">
            <a:solidFill>
              <a:srgbClr val="2A3830"/>
            </a:solidFill>
            <a:prstDash val="solid"/>
          </a:ln>
        </p:spPr>
      </p:sp>
      <p:sp>
        <p:nvSpPr>
          <p:cNvPr id="32" name="Text 30"/>
          <p:cNvSpPr/>
          <p:nvPr/>
        </p:nvSpPr>
        <p:spPr>
          <a:xfrm>
            <a:off x="6532880" y="2866231"/>
            <a:ext cx="304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4A598"/>
                </a:solidFill>
                <a:latin typeface="JetBrains Mono" pitchFamily="49" charset="0"/>
                <a:ea typeface="JetBrains Mono" pitchFamily="49" charset="-122"/>
                <a:cs typeface="JetBrains Mono" pitchFamily="49" charset="-120"/>
              </a:rPr>
              <a:t>6</a:t>
            </a:r>
            <a:endParaRPr lang="en-US" sz="1400" dirty="0"/>
          </a:p>
        </p:txBody>
      </p:sp>
      <p:sp>
        <p:nvSpPr>
          <p:cNvPr id="33" name="Text 31"/>
          <p:cNvSpPr/>
          <p:nvPr/>
        </p:nvSpPr>
        <p:spPr>
          <a:xfrm>
            <a:off x="6913880" y="2866231"/>
            <a:ext cx="311139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3E8"/>
                </a:solidFill>
                <a:latin typeface="Inter" pitchFamily="34" charset="0"/>
                <a:ea typeface="Inter" pitchFamily="34" charset="-122"/>
                <a:cs typeface="Inter" pitchFamily="34" charset="-120"/>
              </a:rPr>
              <a:t>Dana Qasem</a:t>
            </a:r>
            <a:endParaRPr lang="en-US" sz="1400" dirty="0"/>
          </a:p>
        </p:txBody>
      </p:sp>
      <p:sp>
        <p:nvSpPr>
          <p:cNvPr id="34" name="Text 32"/>
          <p:cNvSpPr/>
          <p:nvPr/>
        </p:nvSpPr>
        <p:spPr>
          <a:xfrm>
            <a:off x="10061655" y="2884010"/>
            <a:ext cx="4014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AC"/>
                </a:solidFill>
                <a:latin typeface="Inter" pitchFamily="34" charset="0"/>
                <a:ea typeface="Inter" pitchFamily="34" charset="-122"/>
                <a:cs typeface="Inter" pitchFamily="34" charset="-120"/>
              </a:rPr>
              <a:t>95%</a:t>
            </a:r>
            <a:endParaRPr lang="en-US" sz="1200" dirty="0"/>
          </a:p>
        </p:txBody>
      </p:sp>
      <p:sp>
        <p:nvSpPr>
          <p:cNvPr id="35" name="Text 33"/>
          <p:cNvSpPr/>
          <p:nvPr/>
        </p:nvSpPr>
        <p:spPr>
          <a:xfrm>
            <a:off x="10472420" y="2866231"/>
            <a:ext cx="7493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EF3E8"/>
                </a:solidFill>
                <a:latin typeface="JetBrains Mono" pitchFamily="49" charset="0"/>
                <a:ea typeface="JetBrains Mono" pitchFamily="49" charset="-122"/>
                <a:cs typeface="JetBrains Mono" pitchFamily="49" charset="-120"/>
              </a:rPr>
              <a:t>1,980</a:t>
            </a:r>
            <a:endParaRPr lang="en-US" sz="1400" dirty="0"/>
          </a:p>
        </p:txBody>
      </p:sp>
      <p:sp>
        <p:nvSpPr>
          <p:cNvPr id="36" name="Shape 34"/>
          <p:cNvSpPr/>
          <p:nvPr/>
        </p:nvSpPr>
        <p:spPr>
          <a:xfrm>
            <a:off x="6381750" y="3304381"/>
            <a:ext cx="4991100" cy="459740"/>
          </a:xfrm>
          <a:prstGeom prst="roundRect">
            <a:avLst>
              <a:gd name="adj" fmla="val 20718"/>
            </a:avLst>
          </a:prstGeom>
          <a:gradFill rotWithShape="1">
            <a:gsLst>
              <a:gs pos="0">
                <a:srgbClr val="1E4A33"/>
              </a:gs>
              <a:gs pos="100000">
                <a:srgbClr val="151E18"/>
              </a:gs>
            </a:gsLst>
            <a:lin ang="0" scaled="0"/>
          </a:gradFill>
          <a:ln w="12700">
            <a:solidFill>
              <a:srgbClr val="62C48E"/>
            </a:solidFill>
            <a:prstDash val="solid"/>
          </a:ln>
        </p:spPr>
      </p:sp>
      <p:sp>
        <p:nvSpPr>
          <p:cNvPr id="37" name="Text 35"/>
          <p:cNvSpPr/>
          <p:nvPr/>
        </p:nvSpPr>
        <p:spPr>
          <a:xfrm>
            <a:off x="6537960" y="3409795"/>
            <a:ext cx="304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2C48E"/>
                </a:solidFill>
                <a:latin typeface="JetBrains Mono" pitchFamily="49" charset="0"/>
                <a:ea typeface="JetBrains Mono" pitchFamily="49" charset="-122"/>
                <a:cs typeface="JetBrains Mono" pitchFamily="49" charset="-120"/>
              </a:rPr>
              <a:t>7</a:t>
            </a:r>
            <a:endParaRPr lang="en-US" sz="1400" dirty="0"/>
          </a:p>
        </p:txBody>
      </p:sp>
      <p:sp>
        <p:nvSpPr>
          <p:cNvPr id="38" name="Text 36"/>
          <p:cNvSpPr/>
          <p:nvPr/>
        </p:nvSpPr>
        <p:spPr>
          <a:xfrm>
            <a:off x="6918960" y="3409795"/>
            <a:ext cx="313020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2C48E"/>
                </a:solidFill>
                <a:latin typeface="Inter" pitchFamily="34" charset="0"/>
                <a:ea typeface="Inter" pitchFamily="34" charset="-122"/>
                <a:cs typeface="Inter" pitchFamily="34" charset="-120"/>
              </a:rPr>
              <a:t>You</a:t>
            </a:r>
            <a:endParaRPr lang="en-US" sz="1400" dirty="0"/>
          </a:p>
        </p:txBody>
      </p:sp>
      <p:sp>
        <p:nvSpPr>
          <p:cNvPr id="39" name="Text 37"/>
          <p:cNvSpPr/>
          <p:nvPr/>
        </p:nvSpPr>
        <p:spPr>
          <a:xfrm>
            <a:off x="10084991" y="3427574"/>
            <a:ext cx="3673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AC"/>
                </a:solidFill>
                <a:latin typeface="Inter" pitchFamily="34" charset="0"/>
                <a:ea typeface="Inter" pitchFamily="34" charset="-122"/>
                <a:cs typeface="Inter" pitchFamily="34" charset="-120"/>
              </a:rPr>
              <a:t>91%</a:t>
            </a:r>
            <a:endParaRPr lang="en-US" sz="1200" dirty="0"/>
          </a:p>
        </p:txBody>
      </p:sp>
      <p:sp>
        <p:nvSpPr>
          <p:cNvPr id="40" name="Text 38"/>
          <p:cNvSpPr/>
          <p:nvPr/>
        </p:nvSpPr>
        <p:spPr>
          <a:xfrm>
            <a:off x="10467340" y="3409795"/>
            <a:ext cx="7493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EF3E8"/>
                </a:solidFill>
                <a:latin typeface="JetBrains Mono" pitchFamily="49" charset="0"/>
                <a:ea typeface="JetBrains Mono" pitchFamily="49" charset="-122"/>
                <a:cs typeface="JetBrains Mono" pitchFamily="49" charset="-120"/>
              </a:rPr>
              <a:t>1,760</a:t>
            </a:r>
            <a:endParaRPr lang="en-US" sz="1400" dirty="0"/>
          </a:p>
        </p:txBody>
      </p:sp>
      <p:sp>
        <p:nvSpPr>
          <p:cNvPr id="41" name="Shape 39"/>
          <p:cNvSpPr/>
          <p:nvPr/>
        </p:nvSpPr>
        <p:spPr>
          <a:xfrm>
            <a:off x="6381750" y="3853024"/>
            <a:ext cx="4991100" cy="797560"/>
          </a:xfrm>
          <a:prstGeom prst="roundRect">
            <a:avLst>
              <a:gd name="adj" fmla="val 11943"/>
            </a:avLst>
          </a:prstGeom>
          <a:solidFill>
            <a:srgbClr val="221B10"/>
          </a:solidFill>
          <a:ln w="12700">
            <a:solidFill>
              <a:srgbClr val="D4BC8C"/>
            </a:solidFill>
            <a:prstDash val="dash"/>
          </a:ln>
        </p:spPr>
      </p:sp>
      <p:sp>
        <p:nvSpPr>
          <p:cNvPr id="42" name="Text 40"/>
          <p:cNvSpPr/>
          <p:nvPr/>
        </p:nvSpPr>
        <p:spPr>
          <a:xfrm>
            <a:off x="6537960" y="3983831"/>
            <a:ext cx="48190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3C98E"/>
                </a:solidFill>
                <a:latin typeface="Sora" pitchFamily="34" charset="0"/>
                <a:ea typeface="Sora" pitchFamily="34" charset="-122"/>
                <a:cs typeface="Sora" pitchFamily="34" charset="-120"/>
              </a:rPr>
              <a:t>22 clean reps to pass Dana</a:t>
            </a:r>
            <a:endParaRPr lang="en-US" sz="1600" dirty="0"/>
          </a:p>
        </p:txBody>
      </p:sp>
      <p:sp>
        <p:nvSpPr>
          <p:cNvPr id="43" name="Text 41"/>
          <p:cNvSpPr/>
          <p:nvPr/>
        </p:nvSpPr>
        <p:spPr>
          <a:xfrm>
            <a:off x="6537960" y="4306410"/>
            <a:ext cx="48190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FB8"/>
                </a:solidFill>
                <a:latin typeface="Inter" pitchFamily="34" charset="0"/>
                <a:ea typeface="Inter" pitchFamily="34" charset="-122"/>
                <a:cs typeface="Inter" pitchFamily="34" charset="-120"/>
              </a:rPr>
              <a:t>169 clean reps to take the crown</a:t>
            </a:r>
            <a:endParaRPr lang="en-US" sz="1200" dirty="0"/>
          </a:p>
        </p:txBody>
      </p:sp>
      <p:sp>
        <p:nvSpPr>
          <p:cNvPr id="44" name="Shape 42"/>
          <p:cNvSpPr/>
          <p:nvPr/>
        </p:nvSpPr>
        <p:spPr>
          <a:xfrm>
            <a:off x="812800" y="5219942"/>
            <a:ext cx="2546350" cy="876062"/>
          </a:xfrm>
          <a:prstGeom prst="roundRect">
            <a:avLst>
              <a:gd name="adj" fmla="val 8698"/>
            </a:avLst>
          </a:prstGeom>
          <a:solidFill>
            <a:srgbClr val="151E18"/>
          </a:solidFill>
          <a:ln/>
        </p:spPr>
      </p:sp>
      <p:sp>
        <p:nvSpPr>
          <p:cNvPr id="45" name="Shape 43"/>
          <p:cNvSpPr/>
          <p:nvPr/>
        </p:nvSpPr>
        <p:spPr>
          <a:xfrm>
            <a:off x="812800" y="5219942"/>
            <a:ext cx="2546350" cy="876062"/>
          </a:xfrm>
          <a:custGeom>
            <a:avLst/>
            <a:gdLst/>
            <a:ahLst/>
            <a:cxnLst/>
            <a:rect l="l" t="t" r="r" b="b"/>
            <a:pathLst>
              <a:path w="2546350" h="876062">
                <a:moveTo>
                  <a:pt x="76200" y="876062"/>
                </a:moveTo>
                <a:lnTo>
                  <a:pt x="76200" y="876062"/>
                </a:lnTo>
                <a:arcTo hR="76200" wR="76200" stAng="5400000" swAng="5400000"/>
                <a:lnTo>
                  <a:pt x="0" y="76200"/>
                </a:lnTo>
                <a:arcTo hR="76200" wR="76200" stAng="10800000" swAng="5400000"/>
                <a:lnTo>
                  <a:pt x="76200" y="0"/>
                </a:lnTo>
                <a:arcTo hR="76200" wR="38100" stAng="16200000" swAng="-5400000"/>
                <a:lnTo>
                  <a:pt x="38100" y="799862"/>
                </a:lnTo>
                <a:arcTo hR="76200" wR="38100" stAng="10800000" swAng="-5400000"/>
                <a:close/>
              </a:path>
            </a:pathLst>
          </a:custGeom>
          <a:solidFill>
            <a:srgbClr val="62C48E"/>
          </a:solidFill>
          <a:ln/>
        </p:spPr>
      </p:sp>
      <p:sp>
        <p:nvSpPr>
          <p:cNvPr id="46" name="Text 44"/>
          <p:cNvSpPr/>
          <p:nvPr/>
        </p:nvSpPr>
        <p:spPr>
          <a:xfrm>
            <a:off x="1000760" y="5346942"/>
            <a:ext cx="22721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4A598"/>
                </a:solidFill>
                <a:latin typeface="Inter" pitchFamily="34" charset="0"/>
                <a:ea typeface="Inter" pitchFamily="34" charset="-122"/>
                <a:cs typeface="Inter" pitchFamily="34" charset="-120"/>
              </a:rPr>
              <a:t>Best form badge</a:t>
            </a:r>
            <a:endParaRPr lang="en-US" sz="1200" dirty="0"/>
          </a:p>
        </p:txBody>
      </p:sp>
      <p:sp>
        <p:nvSpPr>
          <p:cNvPr id="47" name="Text 45"/>
          <p:cNvSpPr/>
          <p:nvPr/>
        </p:nvSpPr>
        <p:spPr>
          <a:xfrm>
            <a:off x="1000760" y="5598399"/>
            <a:ext cx="227217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EF3E8"/>
                </a:solidFill>
                <a:latin typeface="Inter" pitchFamily="34" charset="0"/>
                <a:ea typeface="Inter" pitchFamily="34" charset="-122"/>
                <a:cs typeface="Inter" pitchFamily="34" charset="-120"/>
              </a:rPr>
              <a:t>Zaid Hammad · 96%</a:t>
            </a:r>
            <a:endParaRPr lang="en-US" sz="1300" dirty="0"/>
          </a:p>
        </p:txBody>
      </p:sp>
      <p:sp>
        <p:nvSpPr>
          <p:cNvPr id="48" name="Shape 46"/>
          <p:cNvSpPr/>
          <p:nvPr/>
        </p:nvSpPr>
        <p:spPr>
          <a:xfrm>
            <a:off x="3486150" y="5219942"/>
            <a:ext cx="2546350" cy="876062"/>
          </a:xfrm>
          <a:prstGeom prst="roundRect">
            <a:avLst>
              <a:gd name="adj" fmla="val 8698"/>
            </a:avLst>
          </a:prstGeom>
          <a:solidFill>
            <a:srgbClr val="151E18"/>
          </a:solidFill>
          <a:ln/>
        </p:spPr>
      </p:sp>
      <p:sp>
        <p:nvSpPr>
          <p:cNvPr id="49" name="Shape 47"/>
          <p:cNvSpPr/>
          <p:nvPr/>
        </p:nvSpPr>
        <p:spPr>
          <a:xfrm>
            <a:off x="3486150" y="5219942"/>
            <a:ext cx="2546350" cy="876062"/>
          </a:xfrm>
          <a:custGeom>
            <a:avLst/>
            <a:gdLst/>
            <a:ahLst/>
            <a:cxnLst/>
            <a:rect l="l" t="t" r="r" b="b"/>
            <a:pathLst>
              <a:path w="2546350" h="876062">
                <a:moveTo>
                  <a:pt x="76200" y="876062"/>
                </a:moveTo>
                <a:lnTo>
                  <a:pt x="76200" y="876062"/>
                </a:lnTo>
                <a:arcTo hR="76200" wR="76200" stAng="5400000" swAng="5400000"/>
                <a:lnTo>
                  <a:pt x="0" y="76200"/>
                </a:lnTo>
                <a:arcTo hR="76200" wR="76200" stAng="10800000" swAng="5400000"/>
                <a:lnTo>
                  <a:pt x="76200" y="0"/>
                </a:lnTo>
                <a:arcTo hR="76200" wR="38100" stAng="16200000" swAng="-5400000"/>
                <a:lnTo>
                  <a:pt x="38100" y="799862"/>
                </a:lnTo>
                <a:arcTo hR="76200" wR="38100" stAng="10800000" swAng="-5400000"/>
                <a:close/>
              </a:path>
            </a:pathLst>
          </a:custGeom>
          <a:solidFill>
            <a:srgbClr val="E3A574"/>
          </a:solidFill>
          <a:ln/>
        </p:spPr>
      </p:sp>
      <p:sp>
        <p:nvSpPr>
          <p:cNvPr id="50" name="Text 48"/>
          <p:cNvSpPr/>
          <p:nvPr/>
        </p:nvSpPr>
        <p:spPr>
          <a:xfrm>
            <a:off x="3674110" y="5346942"/>
            <a:ext cx="22721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4A598"/>
                </a:solidFill>
                <a:latin typeface="Inter" pitchFamily="34" charset="0"/>
                <a:ea typeface="Inter" pitchFamily="34" charset="-122"/>
                <a:cs typeface="Inter" pitchFamily="34" charset="-120"/>
              </a:rPr>
              <a:t>Heaviest squat badge</a:t>
            </a:r>
            <a:endParaRPr lang="en-US" sz="1200" dirty="0"/>
          </a:p>
        </p:txBody>
      </p:sp>
      <p:sp>
        <p:nvSpPr>
          <p:cNvPr id="51" name="Text 49"/>
          <p:cNvSpPr/>
          <p:nvPr/>
        </p:nvSpPr>
        <p:spPr>
          <a:xfrm>
            <a:off x="3674110" y="5598399"/>
            <a:ext cx="227217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EF3E8"/>
                </a:solidFill>
                <a:latin typeface="Inter" pitchFamily="34" charset="0"/>
                <a:ea typeface="Inter" pitchFamily="34" charset="-122"/>
                <a:cs typeface="Inter" pitchFamily="34" charset="-120"/>
              </a:rPr>
              <a:t>Zaid Hammad · 120 kg</a:t>
            </a:r>
            <a:endParaRPr lang="en-US" sz="1300" dirty="0"/>
          </a:p>
        </p:txBody>
      </p:sp>
      <p:sp>
        <p:nvSpPr>
          <p:cNvPr id="52" name="Shape 50"/>
          <p:cNvSpPr/>
          <p:nvPr/>
        </p:nvSpPr>
        <p:spPr>
          <a:xfrm>
            <a:off x="6159500" y="5219942"/>
            <a:ext cx="2546350" cy="876062"/>
          </a:xfrm>
          <a:prstGeom prst="roundRect">
            <a:avLst>
              <a:gd name="adj" fmla="val 8698"/>
            </a:avLst>
          </a:prstGeom>
          <a:solidFill>
            <a:srgbClr val="151E18"/>
          </a:solidFill>
          <a:ln/>
        </p:spPr>
      </p:sp>
      <p:sp>
        <p:nvSpPr>
          <p:cNvPr id="53" name="Shape 51"/>
          <p:cNvSpPr/>
          <p:nvPr/>
        </p:nvSpPr>
        <p:spPr>
          <a:xfrm>
            <a:off x="6159500" y="5219942"/>
            <a:ext cx="2546350" cy="876062"/>
          </a:xfrm>
          <a:custGeom>
            <a:avLst/>
            <a:gdLst/>
            <a:ahLst/>
            <a:cxnLst/>
            <a:rect l="l" t="t" r="r" b="b"/>
            <a:pathLst>
              <a:path w="2546350" h="876062">
                <a:moveTo>
                  <a:pt x="76200" y="876062"/>
                </a:moveTo>
                <a:lnTo>
                  <a:pt x="76200" y="876062"/>
                </a:lnTo>
                <a:arcTo hR="76200" wR="76200" stAng="5400000" swAng="5400000"/>
                <a:lnTo>
                  <a:pt x="0" y="76200"/>
                </a:lnTo>
                <a:arcTo hR="76200" wR="76200" stAng="10800000" swAng="5400000"/>
                <a:lnTo>
                  <a:pt x="76200" y="0"/>
                </a:lnTo>
                <a:arcTo hR="76200" wR="38100" stAng="16200000" swAng="-5400000"/>
                <a:lnTo>
                  <a:pt x="38100" y="799862"/>
                </a:lnTo>
                <a:arcTo hR="76200" wR="38100" stAng="10800000" swAng="-5400000"/>
                <a:close/>
              </a:path>
            </a:pathLst>
          </a:custGeom>
          <a:solidFill>
            <a:srgbClr val="D4BC8C"/>
          </a:solidFill>
          <a:ln/>
        </p:spPr>
      </p:sp>
      <p:sp>
        <p:nvSpPr>
          <p:cNvPr id="54" name="Text 52"/>
          <p:cNvSpPr/>
          <p:nvPr/>
        </p:nvSpPr>
        <p:spPr>
          <a:xfrm>
            <a:off x="6347460" y="5346942"/>
            <a:ext cx="2272170" cy="209788"/>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94A598"/>
                </a:solidFill>
                <a:latin typeface="Inter" pitchFamily="34" charset="0"/>
                <a:ea typeface="Inter" pitchFamily="34" charset="-122"/>
                <a:cs typeface="Inter" pitchFamily="34" charset="-120"/>
              </a:rPr>
              <a:t>How you score</a:t>
            </a:r>
            <a:endParaRPr lang="en-US" sz="1050" dirty="0"/>
          </a:p>
        </p:txBody>
      </p:sp>
      <p:sp>
        <p:nvSpPr>
          <p:cNvPr id="55" name="Text 53"/>
          <p:cNvSpPr/>
          <p:nvPr/>
        </p:nvSpPr>
        <p:spPr>
          <a:xfrm>
            <a:off x="6347460" y="5569427"/>
            <a:ext cx="2358390" cy="424974"/>
          </a:xfrm>
          <a:prstGeom prst="rect">
            <a:avLst/>
          </a:prstGeom>
          <a:noFill/>
          <a:ln/>
        </p:spPr>
        <p:txBody>
          <a:bodyPr wrap="square" lIns="0" tIns="0" rIns="0" bIns="0" rtlCol="0" anchor="t">
            <a:normAutofit/>
          </a:bodyPr>
          <a:lstStyle/>
          <a:p>
            <a:pPr algn="l" indent="0" marL="0">
              <a:lnSpc>
                <a:spcPts val="1797"/>
              </a:lnSpc>
              <a:buNone/>
            </a:pPr>
            <a:r>
              <a:rPr lang="en-US" sz="1284" b="1" dirty="0">
                <a:solidFill>
                  <a:srgbClr val="EEF3E8"/>
                </a:solidFill>
                <a:latin typeface="Inter" pitchFamily="34" charset="0"/>
                <a:ea typeface="Inter" pitchFamily="34" charset="-122"/>
                <a:cs typeface="Inter" pitchFamily="34" charset="-120"/>
              </a:rPr>
              <a:t>10 pts per rep at 80%+ form</a:t>
            </a:r>
            <a:endParaRPr lang="en-US" sz="1284" dirty="0"/>
          </a:p>
        </p:txBody>
      </p:sp>
      <p:sp>
        <p:nvSpPr>
          <p:cNvPr id="56" name="Shape 54"/>
          <p:cNvSpPr/>
          <p:nvPr/>
        </p:nvSpPr>
        <p:spPr>
          <a:xfrm>
            <a:off x="8832850" y="5219942"/>
            <a:ext cx="2546350" cy="876062"/>
          </a:xfrm>
          <a:prstGeom prst="roundRect">
            <a:avLst>
              <a:gd name="adj" fmla="val 8698"/>
            </a:avLst>
          </a:prstGeom>
          <a:solidFill>
            <a:srgbClr val="151E18"/>
          </a:solidFill>
          <a:ln/>
        </p:spPr>
      </p:sp>
      <p:sp>
        <p:nvSpPr>
          <p:cNvPr id="57" name="Shape 55"/>
          <p:cNvSpPr/>
          <p:nvPr/>
        </p:nvSpPr>
        <p:spPr>
          <a:xfrm>
            <a:off x="8832850" y="5219942"/>
            <a:ext cx="2546350" cy="876062"/>
          </a:xfrm>
          <a:custGeom>
            <a:avLst/>
            <a:gdLst/>
            <a:ahLst/>
            <a:cxnLst/>
            <a:rect l="l" t="t" r="r" b="b"/>
            <a:pathLst>
              <a:path w="2546350" h="876062">
                <a:moveTo>
                  <a:pt x="76200" y="876062"/>
                </a:moveTo>
                <a:lnTo>
                  <a:pt x="76200" y="876062"/>
                </a:lnTo>
                <a:arcTo hR="76200" wR="76200" stAng="5400000" swAng="5400000"/>
                <a:lnTo>
                  <a:pt x="0" y="76200"/>
                </a:lnTo>
                <a:arcTo hR="76200" wR="76200" stAng="10800000" swAng="5400000"/>
                <a:lnTo>
                  <a:pt x="76200" y="0"/>
                </a:lnTo>
                <a:arcTo hR="76200" wR="38100" stAng="16200000" swAng="-5400000"/>
                <a:lnTo>
                  <a:pt x="38100" y="799862"/>
                </a:lnTo>
                <a:arcTo hR="76200" wR="38100" stAng="10800000" swAng="-5400000"/>
                <a:close/>
              </a:path>
            </a:pathLst>
          </a:custGeom>
          <a:solidFill>
            <a:srgbClr val="D9444A"/>
          </a:solidFill>
          <a:ln/>
        </p:spPr>
      </p:sp>
      <p:sp>
        <p:nvSpPr>
          <p:cNvPr id="58" name="Text 56"/>
          <p:cNvSpPr/>
          <p:nvPr/>
        </p:nvSpPr>
        <p:spPr>
          <a:xfrm>
            <a:off x="9020810" y="5346942"/>
            <a:ext cx="22721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4A598"/>
                </a:solidFill>
                <a:latin typeface="Inter" pitchFamily="34" charset="0"/>
                <a:ea typeface="Inter" pitchFamily="34" charset="-122"/>
                <a:cs typeface="Inter" pitchFamily="34" charset="-120"/>
              </a:rPr>
              <a:t>Sloppy reps score</a:t>
            </a:r>
            <a:endParaRPr lang="en-US" sz="1200" dirty="0"/>
          </a:p>
        </p:txBody>
      </p:sp>
      <p:sp>
        <p:nvSpPr>
          <p:cNvPr id="59" name="Text 57"/>
          <p:cNvSpPr/>
          <p:nvPr/>
        </p:nvSpPr>
        <p:spPr>
          <a:xfrm>
            <a:off x="9020810" y="5598399"/>
            <a:ext cx="227217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EF3E8"/>
                </a:solidFill>
                <a:latin typeface="Inter" pitchFamily="34" charset="0"/>
                <a:ea typeface="Inter" pitchFamily="34" charset="-122"/>
                <a:cs typeface="Inter" pitchFamily="34" charset="-120"/>
              </a:rPr>
              <a:t>Zero. No shortcuts.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EE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1E7A4D"/>
                </a:solidFill>
                <a:latin typeface="JetBrains Mono" pitchFamily="49" charset="0"/>
                <a:ea typeface="JetBrains Mono" pitchFamily="49" charset="-122"/>
                <a:cs typeface="JetBrains Mono" pitchFamily="49" charset="-120"/>
              </a:rPr>
              <a:t>THE SAFETY NET · ALL BUILT IN THE APP</a:t>
            </a:r>
            <a:endParaRPr lang="en-US" sz="1200" dirty="0"/>
          </a:p>
        </p:txBody>
      </p:sp>
      <p:sp>
        <p:nvSpPr>
          <p:cNvPr id="3" name="Text 1"/>
          <p:cNvSpPr/>
          <p:nvPr>
            <p:ph type="title"/>
          </p:nvPr>
        </p:nvSpPr>
        <p:spPr>
          <a:xfrm>
            <a:off x="812800" y="1127764"/>
            <a:ext cx="113792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511"/>
                </a:solidFill>
                <a:latin typeface="Sora" pitchFamily="34" charset="0"/>
                <a:ea typeface="Sora" pitchFamily="34" charset="-122"/>
                <a:cs typeface="Sora" pitchFamily="34" charset="-120"/>
              </a:rPr>
              <a:t>Protecting the body before, during and after</a:t>
            </a:r>
            <a:endParaRPr lang="en-US" sz="3600" dirty="0"/>
          </a:p>
        </p:txBody>
      </p:sp>
      <p:sp>
        <p:nvSpPr>
          <p:cNvPr id="4" name="Shape 2"/>
          <p:cNvSpPr/>
          <p:nvPr/>
        </p:nvSpPr>
        <p:spPr>
          <a:xfrm>
            <a:off x="815975" y="1938654"/>
            <a:ext cx="3397250" cy="1758950"/>
          </a:xfrm>
          <a:prstGeom prst="roundRect">
            <a:avLst>
              <a:gd name="adj" fmla="val 7762"/>
            </a:avLst>
          </a:prstGeom>
          <a:solidFill>
            <a:srgbClr val="FBF8F1"/>
          </a:solidFill>
          <a:ln w="6350">
            <a:solidFill>
              <a:srgbClr val="DDD5C2"/>
            </a:solidFill>
            <a:prstDash val="solid"/>
          </a:ln>
        </p:spPr>
      </p:sp>
      <p:sp>
        <p:nvSpPr>
          <p:cNvPr id="5" name="Text 3"/>
          <p:cNvSpPr/>
          <p:nvPr/>
        </p:nvSpPr>
        <p:spPr>
          <a:xfrm>
            <a:off x="1046480" y="2169164"/>
            <a:ext cx="30243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7A4D"/>
                </a:solidFill>
                <a:latin typeface="Inter" pitchFamily="34" charset="0"/>
                <a:ea typeface="Inter" pitchFamily="34" charset="-122"/>
                <a:cs typeface="Inter" pitchFamily="34" charset="-120"/>
              </a:rPr>
              <a:t>BEFORE</a:t>
            </a:r>
            <a:endParaRPr lang="en-US" sz="1200" dirty="0"/>
          </a:p>
        </p:txBody>
      </p:sp>
      <p:sp>
        <p:nvSpPr>
          <p:cNvPr id="6" name="Text 4"/>
          <p:cNvSpPr/>
          <p:nvPr/>
        </p:nvSpPr>
        <p:spPr>
          <a:xfrm>
            <a:off x="1046480" y="2471421"/>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511"/>
                </a:solidFill>
                <a:latin typeface="Sora" pitchFamily="34" charset="0"/>
                <a:ea typeface="Sora" pitchFamily="34" charset="-122"/>
                <a:cs typeface="Sora" pitchFamily="34" charset="-120"/>
              </a:rPr>
              <a:t>Injury-aware plan</a:t>
            </a:r>
            <a:endParaRPr lang="en-US" sz="1600" dirty="0"/>
          </a:p>
        </p:txBody>
      </p:sp>
      <p:sp>
        <p:nvSpPr>
          <p:cNvPr id="7" name="Text 5"/>
          <p:cNvSpPr/>
          <p:nvPr/>
        </p:nvSpPr>
        <p:spPr>
          <a:xfrm>
            <a:off x="1046480" y="2804164"/>
            <a:ext cx="3024327"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B4A40"/>
                </a:solidFill>
                <a:latin typeface="Inter" pitchFamily="34" charset="0"/>
                <a:ea typeface="Inter" pitchFamily="34" charset="-122"/>
                <a:cs typeface="Inter" pitchFamily="34" charset="-120"/>
              </a:rPr>
              <a:t>Knee, lower-back and shoulder injuries swap risky lifts for safer ones.</a:t>
            </a:r>
            <a:endParaRPr lang="en-US" sz="1200" dirty="0"/>
          </a:p>
        </p:txBody>
      </p:sp>
      <p:sp>
        <p:nvSpPr>
          <p:cNvPr id="8" name="Shape 6"/>
          <p:cNvSpPr/>
          <p:nvPr/>
        </p:nvSpPr>
        <p:spPr>
          <a:xfrm>
            <a:off x="4397375" y="1938654"/>
            <a:ext cx="3397250" cy="1758950"/>
          </a:xfrm>
          <a:prstGeom prst="roundRect">
            <a:avLst>
              <a:gd name="adj" fmla="val 7762"/>
            </a:avLst>
          </a:prstGeom>
          <a:solidFill>
            <a:srgbClr val="FBF8F1"/>
          </a:solidFill>
          <a:ln w="6350">
            <a:solidFill>
              <a:srgbClr val="DDD5C2"/>
            </a:solidFill>
            <a:prstDash val="solid"/>
          </a:ln>
        </p:spPr>
      </p:sp>
      <p:sp>
        <p:nvSpPr>
          <p:cNvPr id="9" name="Text 7"/>
          <p:cNvSpPr/>
          <p:nvPr/>
        </p:nvSpPr>
        <p:spPr>
          <a:xfrm>
            <a:off x="4627880" y="2169164"/>
            <a:ext cx="30243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26"/>
                </a:solidFill>
                <a:latin typeface="Inter" pitchFamily="34" charset="0"/>
                <a:ea typeface="Inter" pitchFamily="34" charset="-122"/>
                <a:cs typeface="Inter" pitchFamily="34" charset="-120"/>
              </a:rPr>
              <a:t>DURING</a:t>
            </a:r>
            <a:endParaRPr lang="en-US" sz="1200" dirty="0"/>
          </a:p>
        </p:txBody>
      </p:sp>
      <p:sp>
        <p:nvSpPr>
          <p:cNvPr id="10" name="Text 8"/>
          <p:cNvSpPr/>
          <p:nvPr/>
        </p:nvSpPr>
        <p:spPr>
          <a:xfrm>
            <a:off x="4627880" y="2471421"/>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511"/>
                </a:solidFill>
                <a:latin typeface="Sora" pitchFamily="34" charset="0"/>
                <a:ea typeface="Sora" pitchFamily="34" charset="-122"/>
                <a:cs typeface="Sora" pitchFamily="34" charset="-120"/>
              </a:rPr>
              <a:t>Knee-safe mode</a:t>
            </a:r>
            <a:endParaRPr lang="en-US" sz="1600" dirty="0"/>
          </a:p>
        </p:txBody>
      </p:sp>
      <p:sp>
        <p:nvSpPr>
          <p:cNvPr id="11" name="Text 9"/>
          <p:cNvSpPr/>
          <p:nvPr/>
        </p:nvSpPr>
        <p:spPr>
          <a:xfrm>
            <a:off x="4627880" y="2804164"/>
            <a:ext cx="3024327"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B4A40"/>
                </a:solidFill>
                <a:latin typeface="Inter" pitchFamily="34" charset="0"/>
                <a:ea typeface="Inter" pitchFamily="34" charset="-122"/>
                <a:cs typeface="Inter" pitchFamily="34" charset="-120"/>
              </a:rPr>
              <a:t>Reps count from 100°, with a warning below 80°: "Too Deep, Protect Your Knee".</a:t>
            </a:r>
            <a:endParaRPr lang="en-US" sz="1200" dirty="0"/>
          </a:p>
        </p:txBody>
      </p:sp>
      <p:sp>
        <p:nvSpPr>
          <p:cNvPr id="12" name="Shape 10"/>
          <p:cNvSpPr/>
          <p:nvPr/>
        </p:nvSpPr>
        <p:spPr>
          <a:xfrm>
            <a:off x="7978775" y="1938654"/>
            <a:ext cx="3397250" cy="1758950"/>
          </a:xfrm>
          <a:prstGeom prst="roundRect">
            <a:avLst>
              <a:gd name="adj" fmla="val 7762"/>
            </a:avLst>
          </a:prstGeom>
          <a:solidFill>
            <a:srgbClr val="FBF8F1"/>
          </a:solidFill>
          <a:ln w="6350">
            <a:solidFill>
              <a:srgbClr val="DDD5C2"/>
            </a:solidFill>
            <a:prstDash val="solid"/>
          </a:ln>
        </p:spPr>
      </p:sp>
      <p:sp>
        <p:nvSpPr>
          <p:cNvPr id="13" name="Text 11"/>
          <p:cNvSpPr/>
          <p:nvPr/>
        </p:nvSpPr>
        <p:spPr>
          <a:xfrm>
            <a:off x="8209280" y="2169164"/>
            <a:ext cx="30243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7A4D"/>
                </a:solidFill>
                <a:latin typeface="Inter" pitchFamily="34" charset="0"/>
                <a:ea typeface="Inter" pitchFamily="34" charset="-122"/>
                <a:cs typeface="Inter" pitchFamily="34" charset="-120"/>
              </a:rPr>
              <a:t>AFTER</a:t>
            </a:r>
            <a:endParaRPr lang="en-US" sz="1200" dirty="0"/>
          </a:p>
        </p:txBody>
      </p:sp>
      <p:sp>
        <p:nvSpPr>
          <p:cNvPr id="14" name="Text 12"/>
          <p:cNvSpPr/>
          <p:nvPr/>
        </p:nvSpPr>
        <p:spPr>
          <a:xfrm>
            <a:off x="8209280" y="2471421"/>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511"/>
                </a:solidFill>
                <a:latin typeface="Sora" pitchFamily="34" charset="0"/>
                <a:ea typeface="Sora" pitchFamily="34" charset="-122"/>
                <a:cs typeface="Sora" pitchFamily="34" charset="-120"/>
              </a:rPr>
              <a:t>Workout summary</a:t>
            </a:r>
            <a:endParaRPr lang="en-US" sz="1600" dirty="0"/>
          </a:p>
        </p:txBody>
      </p:sp>
      <p:sp>
        <p:nvSpPr>
          <p:cNvPr id="15" name="Text 13"/>
          <p:cNvSpPr/>
          <p:nvPr/>
        </p:nvSpPr>
        <p:spPr>
          <a:xfrm>
            <a:off x="8209280" y="2804164"/>
            <a:ext cx="3024327"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B4A40"/>
                </a:solidFill>
                <a:latin typeface="Inter" pitchFamily="34" charset="0"/>
                <a:ea typeface="Inter" pitchFamily="34" charset="-122"/>
                <a:cs typeface="Inter" pitchFamily="34" charset="-120"/>
              </a:rPr>
              <a:t>Points, form score, an AI form analysis and advice for the next session.</a:t>
            </a:r>
            <a:endParaRPr lang="en-US" sz="1200" dirty="0"/>
          </a:p>
        </p:txBody>
      </p:sp>
      <p:sp>
        <p:nvSpPr>
          <p:cNvPr id="16" name="Shape 14"/>
          <p:cNvSpPr/>
          <p:nvPr/>
        </p:nvSpPr>
        <p:spPr>
          <a:xfrm>
            <a:off x="815975" y="3881754"/>
            <a:ext cx="3397250" cy="1537970"/>
          </a:xfrm>
          <a:prstGeom prst="roundRect">
            <a:avLst>
              <a:gd name="adj" fmla="val 8877"/>
            </a:avLst>
          </a:prstGeom>
          <a:solidFill>
            <a:srgbClr val="FBF8F1"/>
          </a:solidFill>
          <a:ln w="6350">
            <a:solidFill>
              <a:srgbClr val="DDD5C2"/>
            </a:solidFill>
            <a:prstDash val="solid"/>
          </a:ln>
        </p:spPr>
      </p:sp>
      <p:sp>
        <p:nvSpPr>
          <p:cNvPr id="17" name="Text 15"/>
          <p:cNvSpPr/>
          <p:nvPr/>
        </p:nvSpPr>
        <p:spPr>
          <a:xfrm>
            <a:off x="1046480" y="4112264"/>
            <a:ext cx="30243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7A4D"/>
                </a:solidFill>
                <a:latin typeface="Inter" pitchFamily="34" charset="0"/>
                <a:ea typeface="Inter" pitchFamily="34" charset="-122"/>
                <a:cs typeface="Inter" pitchFamily="34" charset="-120"/>
              </a:rPr>
              <a:t>BEFORE</a:t>
            </a:r>
            <a:endParaRPr lang="en-US" sz="1200" dirty="0"/>
          </a:p>
        </p:txBody>
      </p:sp>
      <p:sp>
        <p:nvSpPr>
          <p:cNvPr id="18" name="Text 16"/>
          <p:cNvSpPr/>
          <p:nvPr/>
        </p:nvSpPr>
        <p:spPr>
          <a:xfrm>
            <a:off x="1046480" y="4414521"/>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511"/>
                </a:solidFill>
                <a:latin typeface="Sora" pitchFamily="34" charset="0"/>
                <a:ea typeface="Sora" pitchFamily="34" charset="-122"/>
                <a:cs typeface="Sora" pitchFamily="34" charset="-120"/>
              </a:rPr>
              <a:t>Health coach</a:t>
            </a:r>
            <a:endParaRPr lang="en-US" sz="1600" dirty="0"/>
          </a:p>
        </p:txBody>
      </p:sp>
      <p:sp>
        <p:nvSpPr>
          <p:cNvPr id="19" name="Text 17"/>
          <p:cNvSpPr/>
          <p:nvPr/>
        </p:nvSpPr>
        <p:spPr>
          <a:xfrm>
            <a:off x="1046480" y="4747264"/>
            <a:ext cx="3024327"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B4A40"/>
                </a:solidFill>
                <a:latin typeface="Inter" pitchFamily="34" charset="0"/>
                <a:ea typeface="Inter" pitchFamily="34" charset="-122"/>
                <a:cs typeface="Inter" pitchFamily="34" charset="-120"/>
              </a:rPr>
              <a:t>Ask about depth, knees or overload. Works offline too.</a:t>
            </a:r>
            <a:endParaRPr lang="en-US" sz="1200" dirty="0"/>
          </a:p>
        </p:txBody>
      </p:sp>
      <p:sp>
        <p:nvSpPr>
          <p:cNvPr id="20" name="Shape 18"/>
          <p:cNvSpPr/>
          <p:nvPr/>
        </p:nvSpPr>
        <p:spPr>
          <a:xfrm>
            <a:off x="4397375" y="3881754"/>
            <a:ext cx="3397250" cy="1537970"/>
          </a:xfrm>
          <a:prstGeom prst="roundRect">
            <a:avLst>
              <a:gd name="adj" fmla="val 8877"/>
            </a:avLst>
          </a:prstGeom>
          <a:solidFill>
            <a:srgbClr val="FBF8F1"/>
          </a:solidFill>
          <a:ln w="6350">
            <a:solidFill>
              <a:srgbClr val="DDD5C2"/>
            </a:solidFill>
            <a:prstDash val="solid"/>
          </a:ln>
        </p:spPr>
      </p:sp>
      <p:sp>
        <p:nvSpPr>
          <p:cNvPr id="21" name="Text 19"/>
          <p:cNvSpPr/>
          <p:nvPr/>
        </p:nvSpPr>
        <p:spPr>
          <a:xfrm>
            <a:off x="4627880" y="4112264"/>
            <a:ext cx="30243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26"/>
                </a:solidFill>
                <a:latin typeface="Inter" pitchFamily="34" charset="0"/>
                <a:ea typeface="Inter" pitchFamily="34" charset="-122"/>
                <a:cs typeface="Inter" pitchFamily="34" charset="-120"/>
              </a:rPr>
              <a:t>DURING</a:t>
            </a:r>
            <a:endParaRPr lang="en-US" sz="1200" dirty="0"/>
          </a:p>
        </p:txBody>
      </p:sp>
      <p:sp>
        <p:nvSpPr>
          <p:cNvPr id="22" name="Text 20"/>
          <p:cNvSpPr/>
          <p:nvPr/>
        </p:nvSpPr>
        <p:spPr>
          <a:xfrm>
            <a:off x="4627880" y="4414521"/>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511"/>
                </a:solidFill>
                <a:latin typeface="Sora" pitchFamily="34" charset="0"/>
                <a:ea typeface="Sora" pitchFamily="34" charset="-122"/>
                <a:cs typeface="Sora" pitchFamily="34" charset="-120"/>
              </a:rPr>
              <a:t>Rest countdown</a:t>
            </a:r>
            <a:endParaRPr lang="en-US" sz="1600" dirty="0"/>
          </a:p>
        </p:txBody>
      </p:sp>
      <p:sp>
        <p:nvSpPr>
          <p:cNvPr id="23" name="Text 21"/>
          <p:cNvSpPr/>
          <p:nvPr/>
        </p:nvSpPr>
        <p:spPr>
          <a:xfrm>
            <a:off x="4627880" y="4747264"/>
            <a:ext cx="3024327"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B4A40"/>
                </a:solidFill>
                <a:latin typeface="Inter" pitchFamily="34" charset="0"/>
                <a:ea typeface="Inter" pitchFamily="34" charset="-122"/>
                <a:cs typeface="Inter" pitchFamily="34" charset="-120"/>
              </a:rPr>
              <a:t>A timer between sets, and fast drops under 400 ms never count as reps.</a:t>
            </a:r>
            <a:endParaRPr lang="en-US" sz="1200" dirty="0"/>
          </a:p>
        </p:txBody>
      </p:sp>
      <p:sp>
        <p:nvSpPr>
          <p:cNvPr id="24" name="Shape 22"/>
          <p:cNvSpPr/>
          <p:nvPr/>
        </p:nvSpPr>
        <p:spPr>
          <a:xfrm>
            <a:off x="7978775" y="3881754"/>
            <a:ext cx="3397250" cy="1537970"/>
          </a:xfrm>
          <a:prstGeom prst="roundRect">
            <a:avLst>
              <a:gd name="adj" fmla="val 8877"/>
            </a:avLst>
          </a:prstGeom>
          <a:solidFill>
            <a:srgbClr val="FBEDEC"/>
          </a:solidFill>
          <a:ln w="6350">
            <a:solidFill>
              <a:srgbClr val="E5C3C1"/>
            </a:solidFill>
            <a:prstDash val="solid"/>
          </a:ln>
        </p:spPr>
      </p:sp>
      <p:sp>
        <p:nvSpPr>
          <p:cNvPr id="25" name="Text 23"/>
          <p:cNvSpPr/>
          <p:nvPr/>
        </p:nvSpPr>
        <p:spPr>
          <a:xfrm>
            <a:off x="8209280" y="4112264"/>
            <a:ext cx="30243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E2B30"/>
                </a:solidFill>
                <a:latin typeface="Inter" pitchFamily="34" charset="0"/>
                <a:ea typeface="Inter" pitchFamily="34" charset="-122"/>
                <a:cs typeface="Inter" pitchFamily="34" charset="-120"/>
              </a:rPr>
              <a:t>ANYTIME</a:t>
            </a:r>
            <a:endParaRPr lang="en-US" sz="1200" dirty="0"/>
          </a:p>
        </p:txBody>
      </p:sp>
      <p:sp>
        <p:nvSpPr>
          <p:cNvPr id="26" name="Text 24"/>
          <p:cNvSpPr/>
          <p:nvPr/>
        </p:nvSpPr>
        <p:spPr>
          <a:xfrm>
            <a:off x="8209280" y="4414521"/>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511"/>
                </a:solidFill>
                <a:latin typeface="Sora" pitchFamily="34" charset="0"/>
                <a:ea typeface="Sora" pitchFamily="34" charset="-122"/>
                <a:cs typeface="Sora" pitchFamily="34" charset="-120"/>
              </a:rPr>
              <a:t>Emergency SOS</a:t>
            </a:r>
            <a:endParaRPr lang="en-US" sz="1600" dirty="0"/>
          </a:p>
        </p:txBody>
      </p:sp>
      <p:sp>
        <p:nvSpPr>
          <p:cNvPr id="27" name="Text 25"/>
          <p:cNvSpPr/>
          <p:nvPr/>
        </p:nvSpPr>
        <p:spPr>
          <a:xfrm>
            <a:off x="8209280" y="4747264"/>
            <a:ext cx="3024327"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B4A40"/>
                </a:solidFill>
                <a:latin typeface="Inter" pitchFamily="34" charset="0"/>
                <a:ea typeface="Inter" pitchFamily="34" charset="-122"/>
                <a:cs typeface="Inter" pitchFamily="34" charset="-120"/>
              </a:rPr>
              <a:t>One tap calls 911, shows first-aid steps and your saved contact.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5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62C48E"/>
                </a:solidFill>
                <a:latin typeface="JetBrains Mono" pitchFamily="49" charset="0"/>
                <a:ea typeface="JetBrains Mono" pitchFamily="49" charset="-122"/>
                <a:cs typeface="JetBrains Mono" pitchFamily="49" charset="-120"/>
              </a:rPr>
              <a:t>HOW IT'S BUILT</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3E8"/>
                </a:solidFill>
                <a:latin typeface="Sora" pitchFamily="34" charset="0"/>
                <a:ea typeface="Sora" pitchFamily="34" charset="-122"/>
                <a:cs typeface="Sora" pitchFamily="34" charset="-120"/>
              </a:rPr>
              <a:t>A real, working web app</a:t>
            </a:r>
            <a:endParaRPr lang="en-US" sz="3600" dirty="0"/>
          </a:p>
        </p:txBody>
      </p:sp>
      <p:sp>
        <p:nvSpPr>
          <p:cNvPr id="4" name="Shape 2"/>
          <p:cNvSpPr/>
          <p:nvPr/>
        </p:nvSpPr>
        <p:spPr>
          <a:xfrm>
            <a:off x="815975" y="1989460"/>
            <a:ext cx="3380264" cy="1847850"/>
          </a:xfrm>
          <a:prstGeom prst="roundRect">
            <a:avLst>
              <a:gd name="adj" fmla="val 8076"/>
            </a:avLst>
          </a:prstGeom>
          <a:solidFill>
            <a:srgbClr val="151E18"/>
          </a:solidFill>
          <a:ln w="6350">
            <a:solidFill>
              <a:srgbClr val="2A3830"/>
            </a:solidFill>
            <a:prstDash val="solid"/>
          </a:ln>
        </p:spPr>
      </p:sp>
      <p:pic>
        <p:nvPicPr>
          <p:cNvPr id="5" name="Image 0" descr="Code">    </p:cNvPr>
          <p:cNvPicPr>
            <a:picLocks noChangeAspect="1"/>
          </p:cNvPicPr>
          <p:nvPr/>
        </p:nvPicPr>
        <p:blipFill>
          <a:blip r:embed="rId1"/>
          <a:srcRect l="0" r="0" t="0" b="0"/>
          <a:stretch/>
        </p:blipFill>
        <p:spPr>
          <a:xfrm>
            <a:off x="1071880" y="2245358"/>
            <a:ext cx="355600" cy="355600"/>
          </a:xfrm>
          <a:prstGeom prst="rect">
            <a:avLst/>
          </a:prstGeom>
        </p:spPr>
      </p:pic>
      <p:sp>
        <p:nvSpPr>
          <p:cNvPr id="6" name="Text 3"/>
          <p:cNvSpPr/>
          <p:nvPr/>
        </p:nvSpPr>
        <p:spPr>
          <a:xfrm>
            <a:off x="1071880" y="2702558"/>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App</a:t>
            </a:r>
            <a:endParaRPr lang="en-US" sz="1600" dirty="0"/>
          </a:p>
        </p:txBody>
      </p:sp>
      <p:sp>
        <p:nvSpPr>
          <p:cNvPr id="7" name="Text 4"/>
          <p:cNvSpPr/>
          <p:nvPr/>
        </p:nvSpPr>
        <p:spPr>
          <a:xfrm>
            <a:off x="1071880" y="3048000"/>
            <a:ext cx="2954507"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CDBF"/>
                </a:solidFill>
                <a:latin typeface="Inter" pitchFamily="34" charset="0"/>
                <a:ea typeface="Inter" pitchFamily="34" charset="-122"/>
                <a:cs typeface="Inter" pitchFamily="34" charset="-120"/>
              </a:rPr>
              <a:t>Next.js 14, React 18, TypeScript, Tailwind CSS, Framer Motion</a:t>
            </a:r>
            <a:endParaRPr lang="en-US" sz="1400" dirty="0"/>
          </a:p>
        </p:txBody>
      </p:sp>
      <p:sp>
        <p:nvSpPr>
          <p:cNvPr id="8" name="Shape 5"/>
          <p:cNvSpPr/>
          <p:nvPr/>
        </p:nvSpPr>
        <p:spPr>
          <a:xfrm>
            <a:off x="4405789" y="1989460"/>
            <a:ext cx="3380343" cy="1847850"/>
          </a:xfrm>
          <a:prstGeom prst="roundRect">
            <a:avLst>
              <a:gd name="adj" fmla="val 8076"/>
            </a:avLst>
          </a:prstGeom>
          <a:solidFill>
            <a:srgbClr val="151E18"/>
          </a:solidFill>
          <a:ln w="6350">
            <a:solidFill>
              <a:srgbClr val="2A3830"/>
            </a:solidFill>
            <a:prstDash val="solid"/>
          </a:ln>
        </p:spPr>
      </p:sp>
      <p:pic>
        <p:nvPicPr>
          <p:cNvPr id="9" name="Image 1" descr="Activity">    </p:cNvPr>
          <p:cNvPicPr>
            <a:picLocks noChangeAspect="1"/>
          </p:cNvPicPr>
          <p:nvPr/>
        </p:nvPicPr>
        <p:blipFill>
          <a:blip r:embed="rId2"/>
          <a:srcRect l="0" r="0" t="0" b="0"/>
          <a:stretch/>
        </p:blipFill>
        <p:spPr>
          <a:xfrm>
            <a:off x="4661694" y="2245358"/>
            <a:ext cx="355600" cy="355600"/>
          </a:xfrm>
          <a:prstGeom prst="rect">
            <a:avLst/>
          </a:prstGeom>
        </p:spPr>
      </p:pic>
      <p:sp>
        <p:nvSpPr>
          <p:cNvPr id="10" name="Text 6"/>
          <p:cNvSpPr/>
          <p:nvPr/>
        </p:nvSpPr>
        <p:spPr>
          <a:xfrm>
            <a:off x="4661694" y="2702558"/>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Vision &amp; sound</a:t>
            </a:r>
            <a:endParaRPr lang="en-US" sz="1600" dirty="0"/>
          </a:p>
        </p:txBody>
      </p:sp>
      <p:sp>
        <p:nvSpPr>
          <p:cNvPr id="11" name="Text 7"/>
          <p:cNvSpPr/>
          <p:nvPr/>
        </p:nvSpPr>
        <p:spPr>
          <a:xfrm>
            <a:off x="4661694" y="3048000"/>
            <a:ext cx="2954589"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CDBF"/>
                </a:solidFill>
                <a:latin typeface="Inter" pitchFamily="34" charset="0"/>
                <a:ea typeface="Inter" pitchFamily="34" charset="-122"/>
                <a:cs typeface="Inter" pitchFamily="34" charset="-120"/>
              </a:rPr>
              <a:t>MediaPipe Tasks Vision pose model, Web Audio API tones</a:t>
            </a:r>
            <a:endParaRPr lang="en-US" sz="1400" dirty="0"/>
          </a:p>
        </p:txBody>
      </p:sp>
      <p:sp>
        <p:nvSpPr>
          <p:cNvPr id="12" name="Shape 8"/>
          <p:cNvSpPr/>
          <p:nvPr/>
        </p:nvSpPr>
        <p:spPr>
          <a:xfrm>
            <a:off x="7995682" y="1989460"/>
            <a:ext cx="3380343" cy="1847850"/>
          </a:xfrm>
          <a:prstGeom prst="roundRect">
            <a:avLst>
              <a:gd name="adj" fmla="val 8076"/>
            </a:avLst>
          </a:prstGeom>
          <a:solidFill>
            <a:srgbClr val="151E18"/>
          </a:solidFill>
          <a:ln w="6350">
            <a:solidFill>
              <a:srgbClr val="2A3830"/>
            </a:solidFill>
            <a:prstDash val="solid"/>
          </a:ln>
        </p:spPr>
      </p:sp>
      <p:pic>
        <p:nvPicPr>
          <p:cNvPr id="13" name="Image 2" descr="Chat">    </p:cNvPr>
          <p:cNvPicPr>
            <a:picLocks noChangeAspect="1"/>
          </p:cNvPicPr>
          <p:nvPr/>
        </p:nvPicPr>
        <p:blipFill>
          <a:blip r:embed="rId3"/>
          <a:srcRect l="0" r="0" t="0" b="0"/>
          <a:stretch/>
        </p:blipFill>
        <p:spPr>
          <a:xfrm>
            <a:off x="8251587" y="2245358"/>
            <a:ext cx="355600" cy="355600"/>
          </a:xfrm>
          <a:prstGeom prst="rect">
            <a:avLst/>
          </a:prstGeom>
        </p:spPr>
      </p:pic>
      <p:sp>
        <p:nvSpPr>
          <p:cNvPr id="14" name="Text 9"/>
          <p:cNvSpPr/>
          <p:nvPr/>
        </p:nvSpPr>
        <p:spPr>
          <a:xfrm>
            <a:off x="8251587" y="2702558"/>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3E8"/>
                </a:solidFill>
                <a:latin typeface="Sora" pitchFamily="34" charset="0"/>
                <a:ea typeface="Sora" pitchFamily="34" charset="-122"/>
                <a:cs typeface="Sora" pitchFamily="34" charset="-120"/>
              </a:rPr>
              <a:t>AI coach</a:t>
            </a:r>
            <a:endParaRPr lang="en-US" sz="1600" dirty="0"/>
          </a:p>
        </p:txBody>
      </p:sp>
      <p:sp>
        <p:nvSpPr>
          <p:cNvPr id="15" name="Text 10"/>
          <p:cNvSpPr/>
          <p:nvPr/>
        </p:nvSpPr>
        <p:spPr>
          <a:xfrm>
            <a:off x="8251587" y="3048000"/>
            <a:ext cx="2954589"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CDBF"/>
                </a:solidFill>
                <a:latin typeface="Inter" pitchFamily="34" charset="0"/>
                <a:ea typeface="Inter" pitchFamily="34" charset="-122"/>
                <a:cs typeface="Inter" pitchFamily="34" charset="-120"/>
              </a:rPr>
              <a:t>Google Gemini API, with an offline answer bank as backup</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A winding road from start on the left to a gold finish line on the right, with seven milestone stops along i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D4BC8C"/>
                </a:solidFill>
                <a:latin typeface="JetBrains Mono" pitchFamily="49" charset="0"/>
                <a:ea typeface="JetBrains Mono" pitchFamily="49" charset="-122"/>
                <a:cs typeface="JetBrains Mono" pitchFamily="49" charset="-120"/>
              </a:rPr>
              <a:t>CONCLUSION · THE JOFIT ROAD</a:t>
            </a:r>
            <a:endParaRPr lang="en-US" sz="1200" dirty="0"/>
          </a:p>
        </p:txBody>
      </p:sp>
      <p:sp>
        <p:nvSpPr>
          <p:cNvPr id="4" name="Text 1"/>
          <p:cNvSpPr/>
          <p:nvPr>
            <p:ph type="title"/>
          </p:nvPr>
        </p:nvSpPr>
        <p:spPr>
          <a:xfrm>
            <a:off x="812800" y="1000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3E8"/>
                </a:solidFill>
                <a:latin typeface="Sora" pitchFamily="34" charset="0"/>
                <a:ea typeface="Sora" pitchFamily="34" charset="-122"/>
                <a:cs typeface="Sora" pitchFamily="34" charset="-120"/>
              </a:rPr>
              <a:t>Six highlights, one finish line</a:t>
            </a:r>
            <a:endParaRPr lang="en-US" sz="3600" dirty="0"/>
          </a:p>
        </p:txBody>
      </p:sp>
      <p:sp>
        <p:nvSpPr>
          <p:cNvPr id="5" name="Text 2"/>
          <p:cNvSpPr/>
          <p:nvPr/>
        </p:nvSpPr>
        <p:spPr>
          <a:xfrm>
            <a:off x="1320800" y="4076700"/>
            <a:ext cx="4064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2C48E"/>
                </a:solidFill>
                <a:latin typeface="Sora" pitchFamily="34" charset="0"/>
                <a:ea typeface="Sora" pitchFamily="34" charset="-122"/>
                <a:cs typeface="Sora" pitchFamily="34" charset="-120"/>
              </a:rPr>
              <a:t>1</a:t>
            </a:r>
            <a:endParaRPr lang="en-US" sz="1400" dirty="0"/>
          </a:p>
        </p:txBody>
      </p:sp>
      <p:sp>
        <p:nvSpPr>
          <p:cNvPr id="6" name="Text 3"/>
          <p:cNvSpPr/>
          <p:nvPr/>
        </p:nvSpPr>
        <p:spPr>
          <a:xfrm>
            <a:off x="2844800" y="3771900"/>
            <a:ext cx="4064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2C48E"/>
                </a:solidFill>
                <a:latin typeface="Sora" pitchFamily="34" charset="0"/>
                <a:ea typeface="Sora" pitchFamily="34" charset="-122"/>
                <a:cs typeface="Sora" pitchFamily="34" charset="-120"/>
              </a:rPr>
              <a:t>2</a:t>
            </a:r>
            <a:endParaRPr lang="en-US" sz="1400" dirty="0"/>
          </a:p>
        </p:txBody>
      </p:sp>
      <p:sp>
        <p:nvSpPr>
          <p:cNvPr id="7" name="Text 4"/>
          <p:cNvSpPr/>
          <p:nvPr/>
        </p:nvSpPr>
        <p:spPr>
          <a:xfrm>
            <a:off x="4368800" y="4102100"/>
            <a:ext cx="4064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2C48E"/>
                </a:solidFill>
                <a:latin typeface="Sora" pitchFamily="34" charset="0"/>
                <a:ea typeface="Sora" pitchFamily="34" charset="-122"/>
                <a:cs typeface="Sora" pitchFamily="34" charset="-120"/>
              </a:rPr>
              <a:t>3</a:t>
            </a:r>
            <a:endParaRPr lang="en-US" sz="1400" dirty="0"/>
          </a:p>
        </p:txBody>
      </p:sp>
      <p:sp>
        <p:nvSpPr>
          <p:cNvPr id="8" name="Text 5"/>
          <p:cNvSpPr/>
          <p:nvPr/>
        </p:nvSpPr>
        <p:spPr>
          <a:xfrm>
            <a:off x="5892800" y="3771900"/>
            <a:ext cx="4064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2C48E"/>
                </a:solidFill>
                <a:latin typeface="Sora" pitchFamily="34" charset="0"/>
                <a:ea typeface="Sora" pitchFamily="34" charset="-122"/>
                <a:cs typeface="Sora" pitchFamily="34" charset="-120"/>
              </a:rPr>
              <a:t>4</a:t>
            </a:r>
            <a:endParaRPr lang="en-US" sz="1400" dirty="0"/>
          </a:p>
        </p:txBody>
      </p:sp>
      <p:sp>
        <p:nvSpPr>
          <p:cNvPr id="9" name="Text 6"/>
          <p:cNvSpPr/>
          <p:nvPr/>
        </p:nvSpPr>
        <p:spPr>
          <a:xfrm>
            <a:off x="7416800" y="4102100"/>
            <a:ext cx="4064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2C48E"/>
                </a:solidFill>
                <a:latin typeface="Sora" pitchFamily="34" charset="0"/>
                <a:ea typeface="Sora" pitchFamily="34" charset="-122"/>
                <a:cs typeface="Sora" pitchFamily="34" charset="-120"/>
              </a:rPr>
              <a:t>5</a:t>
            </a:r>
            <a:endParaRPr lang="en-US" sz="1400" dirty="0"/>
          </a:p>
        </p:txBody>
      </p:sp>
      <p:sp>
        <p:nvSpPr>
          <p:cNvPr id="10" name="Text 7"/>
          <p:cNvSpPr/>
          <p:nvPr/>
        </p:nvSpPr>
        <p:spPr>
          <a:xfrm>
            <a:off x="8940800" y="3771900"/>
            <a:ext cx="4064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2C48E"/>
                </a:solidFill>
                <a:latin typeface="Sora" pitchFamily="34" charset="0"/>
                <a:ea typeface="Sora" pitchFamily="34" charset="-122"/>
                <a:cs typeface="Sora" pitchFamily="34" charset="-120"/>
              </a:rPr>
              <a:t>6</a:t>
            </a:r>
            <a:endParaRPr lang="en-US" sz="1400" dirty="0"/>
          </a:p>
        </p:txBody>
      </p:sp>
      <p:pic>
        <p:nvPicPr>
          <p:cNvPr id="11" name="Image 1" descr="Star">    </p:cNvPr>
          <p:cNvPicPr>
            <a:picLocks noChangeAspect="1"/>
          </p:cNvPicPr>
          <p:nvPr/>
        </p:nvPicPr>
        <p:blipFill>
          <a:blip r:embed="rId2"/>
          <a:srcRect l="0" r="0" t="0" b="0"/>
          <a:stretch/>
        </p:blipFill>
        <p:spPr>
          <a:xfrm>
            <a:off x="10528300" y="3898900"/>
            <a:ext cx="279400" cy="279400"/>
          </a:xfrm>
          <a:prstGeom prst="rect">
            <a:avLst/>
          </a:prstGeom>
        </p:spPr>
      </p:pic>
      <p:sp>
        <p:nvSpPr>
          <p:cNvPr id="12" name="Text 8"/>
          <p:cNvSpPr/>
          <p:nvPr/>
        </p:nvSpPr>
        <p:spPr>
          <a:xfrm>
            <a:off x="812800" y="4749800"/>
            <a:ext cx="1066800"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E8174"/>
                </a:solidFill>
                <a:latin typeface="JetBrains Mono" pitchFamily="49" charset="0"/>
                <a:ea typeface="JetBrains Mono" pitchFamily="49" charset="-122"/>
                <a:cs typeface="JetBrains Mono" pitchFamily="49" charset="-120"/>
              </a:rPr>
              <a:t>START</a:t>
            </a:r>
            <a:endParaRPr lang="en-US" sz="1200" dirty="0"/>
          </a:p>
        </p:txBody>
      </p:sp>
      <p:sp>
        <p:nvSpPr>
          <p:cNvPr id="13" name="Shape 9"/>
          <p:cNvSpPr/>
          <p:nvPr/>
        </p:nvSpPr>
        <p:spPr>
          <a:xfrm>
            <a:off x="815975" y="1908175"/>
            <a:ext cx="1835150" cy="1212850"/>
          </a:xfrm>
          <a:prstGeom prst="roundRect">
            <a:avLst>
              <a:gd name="adj" fmla="val 9162"/>
            </a:avLst>
          </a:prstGeom>
          <a:solidFill>
            <a:srgbClr val="151E18"/>
          </a:solidFill>
          <a:ln w="6350">
            <a:solidFill>
              <a:srgbClr val="2A3830"/>
            </a:solidFill>
            <a:prstDash val="solid"/>
          </a:ln>
        </p:spPr>
      </p:sp>
      <p:sp>
        <p:nvSpPr>
          <p:cNvPr id="14" name="Text 10"/>
          <p:cNvSpPr/>
          <p:nvPr/>
        </p:nvSpPr>
        <p:spPr>
          <a:xfrm>
            <a:off x="970280" y="2062485"/>
            <a:ext cx="1577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Smart plan</a:t>
            </a:r>
            <a:endParaRPr lang="en-US" sz="1200" dirty="0"/>
          </a:p>
        </p:txBody>
      </p:sp>
      <p:sp>
        <p:nvSpPr>
          <p:cNvPr id="15" name="Text 11"/>
          <p:cNvSpPr/>
          <p:nvPr/>
        </p:nvSpPr>
        <p:spPr>
          <a:xfrm>
            <a:off x="970280" y="2326642"/>
            <a:ext cx="15773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5"/>
                </a:solidFill>
                <a:latin typeface="Inter" pitchFamily="34" charset="0"/>
                <a:ea typeface="Inter" pitchFamily="34" charset="-122"/>
                <a:cs typeface="Inter" pitchFamily="34" charset="-120"/>
              </a:rPr>
              <a:t>A short survey builds a week around your injuries.</a:t>
            </a:r>
            <a:endParaRPr lang="en-US" sz="1200" dirty="0"/>
          </a:p>
        </p:txBody>
      </p:sp>
      <p:sp>
        <p:nvSpPr>
          <p:cNvPr id="16" name="Shape 12"/>
          <p:cNvSpPr/>
          <p:nvPr/>
        </p:nvSpPr>
        <p:spPr>
          <a:xfrm>
            <a:off x="2130425" y="4587875"/>
            <a:ext cx="1835150" cy="1212850"/>
          </a:xfrm>
          <a:prstGeom prst="roundRect">
            <a:avLst>
              <a:gd name="adj" fmla="val 9162"/>
            </a:avLst>
          </a:prstGeom>
          <a:solidFill>
            <a:srgbClr val="151E18"/>
          </a:solidFill>
          <a:ln w="6350">
            <a:solidFill>
              <a:srgbClr val="2A3830"/>
            </a:solidFill>
            <a:prstDash val="solid"/>
          </a:ln>
        </p:spPr>
      </p:sp>
      <p:sp>
        <p:nvSpPr>
          <p:cNvPr id="17" name="Text 13"/>
          <p:cNvSpPr/>
          <p:nvPr/>
        </p:nvSpPr>
        <p:spPr>
          <a:xfrm>
            <a:off x="2284730" y="4742185"/>
            <a:ext cx="1577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AI squat tracker</a:t>
            </a:r>
            <a:endParaRPr lang="en-US" sz="1200" dirty="0"/>
          </a:p>
        </p:txBody>
      </p:sp>
      <p:sp>
        <p:nvSpPr>
          <p:cNvPr id="18" name="Text 14"/>
          <p:cNvSpPr/>
          <p:nvPr/>
        </p:nvSpPr>
        <p:spPr>
          <a:xfrm>
            <a:off x="2284730" y="5006342"/>
            <a:ext cx="15773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5"/>
                </a:solidFill>
                <a:latin typeface="Inter" pitchFamily="34" charset="0"/>
                <a:ea typeface="Inter" pitchFamily="34" charset="-122"/>
                <a:cs typeface="Inter" pitchFamily="34" charset="-120"/>
              </a:rPr>
              <a:t>The camera counts only reps at safe depth.</a:t>
            </a:r>
            <a:endParaRPr lang="en-US" sz="1200" dirty="0"/>
          </a:p>
        </p:txBody>
      </p:sp>
      <p:sp>
        <p:nvSpPr>
          <p:cNvPr id="19" name="Shape 15"/>
          <p:cNvSpPr/>
          <p:nvPr/>
        </p:nvSpPr>
        <p:spPr>
          <a:xfrm>
            <a:off x="3654425" y="1908175"/>
            <a:ext cx="1835150" cy="1212850"/>
          </a:xfrm>
          <a:prstGeom prst="roundRect">
            <a:avLst>
              <a:gd name="adj" fmla="val 9162"/>
            </a:avLst>
          </a:prstGeom>
          <a:solidFill>
            <a:srgbClr val="151E18"/>
          </a:solidFill>
          <a:ln w="6350">
            <a:solidFill>
              <a:srgbClr val="2A3830"/>
            </a:solidFill>
            <a:prstDash val="solid"/>
          </a:ln>
        </p:spPr>
      </p:sp>
      <p:sp>
        <p:nvSpPr>
          <p:cNvPr id="20" name="Text 16"/>
          <p:cNvSpPr/>
          <p:nvPr/>
        </p:nvSpPr>
        <p:spPr>
          <a:xfrm>
            <a:off x="3808730" y="2062485"/>
            <a:ext cx="1577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Form gate</a:t>
            </a:r>
            <a:endParaRPr lang="en-US" sz="1200" dirty="0"/>
          </a:p>
        </p:txBody>
      </p:sp>
      <p:sp>
        <p:nvSpPr>
          <p:cNvPr id="21" name="Text 17"/>
          <p:cNvSpPr/>
          <p:nvPr/>
        </p:nvSpPr>
        <p:spPr>
          <a:xfrm>
            <a:off x="3808730" y="2326642"/>
            <a:ext cx="15773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5"/>
                </a:solidFill>
                <a:latin typeface="Inter" pitchFamily="34" charset="0"/>
                <a:ea typeface="Inter" pitchFamily="34" charset="-122"/>
                <a:cs typeface="Inter" pitchFamily="34" charset="-120"/>
              </a:rPr>
              <a:t>Heavier only when form hits 80%. Deload when tired.</a:t>
            </a:r>
            <a:endParaRPr lang="en-US" sz="1200" dirty="0"/>
          </a:p>
        </p:txBody>
      </p:sp>
      <p:sp>
        <p:nvSpPr>
          <p:cNvPr id="22" name="Shape 18"/>
          <p:cNvSpPr/>
          <p:nvPr/>
        </p:nvSpPr>
        <p:spPr>
          <a:xfrm>
            <a:off x="5178425" y="4587875"/>
            <a:ext cx="1835150" cy="1212850"/>
          </a:xfrm>
          <a:prstGeom prst="roundRect">
            <a:avLst>
              <a:gd name="adj" fmla="val 9162"/>
            </a:avLst>
          </a:prstGeom>
          <a:solidFill>
            <a:srgbClr val="151E18"/>
          </a:solidFill>
          <a:ln w="6350">
            <a:solidFill>
              <a:srgbClr val="2A3830"/>
            </a:solidFill>
            <a:prstDash val="solid"/>
          </a:ln>
        </p:spPr>
      </p:sp>
      <p:sp>
        <p:nvSpPr>
          <p:cNvPr id="23" name="Text 19"/>
          <p:cNvSpPr/>
          <p:nvPr/>
        </p:nvSpPr>
        <p:spPr>
          <a:xfrm>
            <a:off x="5332730" y="4742185"/>
            <a:ext cx="1577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Health coach</a:t>
            </a:r>
            <a:endParaRPr lang="en-US" sz="1200" dirty="0"/>
          </a:p>
        </p:txBody>
      </p:sp>
      <p:sp>
        <p:nvSpPr>
          <p:cNvPr id="24" name="Text 20"/>
          <p:cNvSpPr/>
          <p:nvPr/>
        </p:nvSpPr>
        <p:spPr>
          <a:xfrm>
            <a:off x="5332730" y="5006342"/>
            <a:ext cx="15773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5"/>
                </a:solidFill>
                <a:latin typeface="Inter" pitchFamily="34" charset="0"/>
                <a:ea typeface="Inter" pitchFamily="34" charset="-122"/>
                <a:cs typeface="Inter" pitchFamily="34" charset="-120"/>
              </a:rPr>
              <a:t>Gemini answers in seconds, even offline.</a:t>
            </a:r>
            <a:endParaRPr lang="en-US" sz="1200" dirty="0"/>
          </a:p>
        </p:txBody>
      </p:sp>
      <p:sp>
        <p:nvSpPr>
          <p:cNvPr id="25" name="Shape 21"/>
          <p:cNvSpPr/>
          <p:nvPr/>
        </p:nvSpPr>
        <p:spPr>
          <a:xfrm>
            <a:off x="6702425" y="1908175"/>
            <a:ext cx="1835150" cy="1212850"/>
          </a:xfrm>
          <a:prstGeom prst="roundRect">
            <a:avLst>
              <a:gd name="adj" fmla="val 9162"/>
            </a:avLst>
          </a:prstGeom>
          <a:solidFill>
            <a:srgbClr val="151E18"/>
          </a:solidFill>
          <a:ln w="6350">
            <a:solidFill>
              <a:srgbClr val="2A3830"/>
            </a:solidFill>
            <a:prstDash val="solid"/>
          </a:ln>
        </p:spPr>
      </p:sp>
      <p:sp>
        <p:nvSpPr>
          <p:cNvPr id="26" name="Text 22"/>
          <p:cNvSpPr/>
          <p:nvPr/>
        </p:nvSpPr>
        <p:spPr>
          <a:xfrm>
            <a:off x="6856730" y="2062485"/>
            <a:ext cx="1577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Leaderboard</a:t>
            </a:r>
            <a:endParaRPr lang="en-US" sz="1200" dirty="0"/>
          </a:p>
        </p:txBody>
      </p:sp>
      <p:sp>
        <p:nvSpPr>
          <p:cNvPr id="27" name="Text 23"/>
          <p:cNvSpPr/>
          <p:nvPr/>
        </p:nvSpPr>
        <p:spPr>
          <a:xfrm>
            <a:off x="6856730" y="2326642"/>
            <a:ext cx="15773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5"/>
                </a:solidFill>
                <a:latin typeface="Inter" pitchFamily="34" charset="0"/>
                <a:ea typeface="Inter" pitchFamily="34" charset="-122"/>
                <a:cs typeface="Inter" pitchFamily="34" charset="-120"/>
              </a:rPr>
              <a:t>Gym members race on clean reps, not ego.</a:t>
            </a:r>
            <a:endParaRPr lang="en-US" sz="1200" dirty="0"/>
          </a:p>
        </p:txBody>
      </p:sp>
      <p:sp>
        <p:nvSpPr>
          <p:cNvPr id="28" name="Shape 24"/>
          <p:cNvSpPr/>
          <p:nvPr/>
        </p:nvSpPr>
        <p:spPr>
          <a:xfrm>
            <a:off x="8226425" y="4587875"/>
            <a:ext cx="1835150" cy="1212850"/>
          </a:xfrm>
          <a:prstGeom prst="roundRect">
            <a:avLst>
              <a:gd name="adj" fmla="val 9162"/>
            </a:avLst>
          </a:prstGeom>
          <a:solidFill>
            <a:srgbClr val="151E18"/>
          </a:solidFill>
          <a:ln w="6350">
            <a:solidFill>
              <a:srgbClr val="2A3830"/>
            </a:solidFill>
            <a:prstDash val="solid"/>
          </a:ln>
        </p:spPr>
      </p:sp>
      <p:sp>
        <p:nvSpPr>
          <p:cNvPr id="29" name="Text 25"/>
          <p:cNvSpPr/>
          <p:nvPr/>
        </p:nvSpPr>
        <p:spPr>
          <a:xfrm>
            <a:off x="8380730" y="4742185"/>
            <a:ext cx="1577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C48E"/>
                </a:solidFill>
                <a:latin typeface="JetBrains Mono" pitchFamily="49" charset="0"/>
                <a:ea typeface="JetBrains Mono" pitchFamily="49" charset="-122"/>
                <a:cs typeface="JetBrains Mono" pitchFamily="49" charset="-120"/>
              </a:rPr>
              <a:t>Arabi wallet</a:t>
            </a:r>
            <a:endParaRPr lang="en-US" sz="1200" dirty="0"/>
          </a:p>
        </p:txBody>
      </p:sp>
      <p:sp>
        <p:nvSpPr>
          <p:cNvPr id="30" name="Text 26"/>
          <p:cNvSpPr/>
          <p:nvPr/>
        </p:nvSpPr>
        <p:spPr>
          <a:xfrm>
            <a:off x="8380730" y="5006342"/>
            <a:ext cx="15773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5"/>
                </a:solidFill>
                <a:latin typeface="Inter" pitchFamily="34" charset="0"/>
                <a:ea typeface="Inter" pitchFamily="34" charset="-122"/>
                <a:cs typeface="Inter" pitchFamily="34" charset="-120"/>
              </a:rPr>
              <a:t>1,000 Fit Points become 100 bank points.</a:t>
            </a:r>
            <a:endParaRPr lang="en-US" sz="1200" dirty="0"/>
          </a:p>
        </p:txBody>
      </p:sp>
      <p:sp>
        <p:nvSpPr>
          <p:cNvPr id="31" name="Shape 27"/>
          <p:cNvSpPr/>
          <p:nvPr/>
        </p:nvSpPr>
        <p:spPr>
          <a:xfrm>
            <a:off x="9480550" y="1911350"/>
            <a:ext cx="1892300" cy="1038860"/>
          </a:xfrm>
          <a:prstGeom prst="roundRect">
            <a:avLst>
              <a:gd name="adj" fmla="val 10391"/>
            </a:avLst>
          </a:prstGeom>
          <a:solidFill>
            <a:srgbClr val="2A2111"/>
          </a:solidFill>
          <a:ln w="12700">
            <a:solidFill>
              <a:srgbClr val="E3C98E"/>
            </a:solidFill>
            <a:prstDash val="solid"/>
          </a:ln>
          <a:effectLst>
            <a:outerShdw sx="100000" sy="100000" kx="0" ky="0" algn="bl" rotWithShape="0" blurRad="254000" dist="0" dir="60000">
              <a:srgbClr val="E3C98E">
                <a:alpha val="25000"/>
              </a:srgbClr>
            </a:outerShdw>
          </a:effectLst>
        </p:spPr>
      </p:sp>
      <p:sp>
        <p:nvSpPr>
          <p:cNvPr id="32" name="Text 28"/>
          <p:cNvSpPr/>
          <p:nvPr/>
        </p:nvSpPr>
        <p:spPr>
          <a:xfrm>
            <a:off x="9636760" y="2067558"/>
            <a:ext cx="163068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C98E"/>
                </a:solidFill>
                <a:latin typeface="JetBrains Mono" pitchFamily="49" charset="0"/>
                <a:ea typeface="JetBrains Mono" pitchFamily="49" charset="-122"/>
                <a:cs typeface="JetBrains Mono" pitchFamily="49" charset="-120"/>
              </a:rPr>
              <a:t>FINISH LINE</a:t>
            </a:r>
            <a:endParaRPr lang="en-US" sz="1200" dirty="0"/>
          </a:p>
        </p:txBody>
      </p:sp>
      <p:sp>
        <p:nvSpPr>
          <p:cNvPr id="33" name="Text 29"/>
          <p:cNvSpPr/>
          <p:nvPr/>
        </p:nvSpPr>
        <p:spPr>
          <a:xfrm>
            <a:off x="9636760" y="2331727"/>
            <a:ext cx="1630680"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EEE2"/>
                </a:solidFill>
                <a:latin typeface="Sora" pitchFamily="34" charset="0"/>
                <a:ea typeface="Sora" pitchFamily="34" charset="-122"/>
                <a:cs typeface="Sora" pitchFamily="34" charset="-120"/>
              </a:rPr>
              <a:t>Fewer injuries. Real rewards.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OFIT mascot lifting dumbbells">    </p:cNvPr>
          <p:cNvPicPr>
            <a:picLocks noChangeAspect="1"/>
          </p:cNvPicPr>
          <p:nvPr/>
        </p:nvPicPr>
        <p:blipFill>
          <a:blip r:embed="rId1"/>
          <a:srcRect l="0" r="0" t="0" b="0"/>
          <a:stretch/>
        </p:blipFill>
        <p:spPr>
          <a:xfrm>
            <a:off x="7010400" y="1397000"/>
            <a:ext cx="4572000" cy="3429000"/>
          </a:xfrm>
          <a:prstGeom prst="rect">
            <a:avLst/>
          </a:prstGeom>
        </p:spPr>
      </p:pic>
      <p:sp>
        <p:nvSpPr>
          <p:cNvPr id="3" name="Text 0"/>
          <p:cNvSpPr/>
          <p:nvPr/>
        </p:nvSpPr>
        <p:spPr>
          <a:xfrm>
            <a:off x="812800" y="14376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D4BC8C"/>
                </a:solidFill>
                <a:latin typeface="JetBrains Mono" pitchFamily="49" charset="0"/>
                <a:ea typeface="JetBrains Mono" pitchFamily="49" charset="-122"/>
                <a:cs typeface="JetBrains Mono" pitchFamily="49" charset="-120"/>
              </a:rPr>
              <a:t>THE THREE QUESTIONS, ANSWERED</a:t>
            </a:r>
            <a:endParaRPr lang="en-US" sz="1200" dirty="0"/>
          </a:p>
        </p:txBody>
      </p:sp>
      <p:sp>
        <p:nvSpPr>
          <p:cNvPr id="4" name="Text 1"/>
          <p:cNvSpPr/>
          <p:nvPr/>
        </p:nvSpPr>
        <p:spPr>
          <a:xfrm>
            <a:off x="812800" y="1879600"/>
            <a:ext cx="62788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6C5"/>
                </a:solidFill>
                <a:latin typeface="Inter" pitchFamily="34" charset="0"/>
                <a:ea typeface="Inter" pitchFamily="34" charset="-122"/>
                <a:cs typeface="Inter" pitchFamily="34" charset="-120"/>
              </a:rPr>
              <a:t>Bad reps? </a:t>
            </a:r>
            <a:r>
              <a:rPr lang="en-US" sz="1600" b="1" dirty="0">
                <a:solidFill>
                  <a:srgbClr val="EEF3E8"/>
                </a:solidFill>
                <a:latin typeface="Inter" pitchFamily="34" charset="0"/>
                <a:ea typeface="Inter" pitchFamily="34" charset="-122"/>
                <a:cs typeface="Inter" pitchFamily="34" charset="-120"/>
              </a:rPr>
              <a:t>The camera catches them.</a:t>
            </a:r>
            <a:endParaRPr lang="en-US" sz="1600" dirty="0"/>
          </a:p>
        </p:txBody>
      </p:sp>
      <p:sp>
        <p:nvSpPr>
          <p:cNvPr id="5" name="Text 2"/>
          <p:cNvSpPr/>
          <p:nvPr/>
        </p:nvSpPr>
        <p:spPr>
          <a:xfrm>
            <a:off x="812800" y="2265685"/>
            <a:ext cx="62788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6C5"/>
                </a:solidFill>
                <a:latin typeface="Inter" pitchFamily="34" charset="0"/>
                <a:ea typeface="Inter" pitchFamily="34" charset="-122"/>
                <a:cs typeface="Inter" pitchFamily="34" charset="-120"/>
              </a:rPr>
              <a:t>Who tells you to stop? </a:t>
            </a:r>
            <a:r>
              <a:rPr lang="en-US" sz="1600" b="1" dirty="0">
                <a:solidFill>
                  <a:srgbClr val="EEF3E8"/>
                </a:solidFill>
                <a:latin typeface="Inter" pitchFamily="34" charset="0"/>
                <a:ea typeface="Inter" pitchFamily="34" charset="-122"/>
                <a:cs typeface="Inter" pitchFamily="34" charset="-120"/>
              </a:rPr>
              <a:t>JOFIT does.</a:t>
            </a:r>
            <a:endParaRPr lang="en-US" sz="1600" dirty="0"/>
          </a:p>
        </p:txBody>
      </p:sp>
      <p:sp>
        <p:nvSpPr>
          <p:cNvPr id="6" name="Text 3"/>
          <p:cNvSpPr/>
          <p:nvPr/>
        </p:nvSpPr>
        <p:spPr>
          <a:xfrm>
            <a:off x="812800" y="2651758"/>
            <a:ext cx="62788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6C5"/>
                </a:solidFill>
                <a:latin typeface="Inter" pitchFamily="34" charset="0"/>
                <a:ea typeface="Inter" pitchFamily="34" charset="-122"/>
                <a:cs typeface="Inter" pitchFamily="34" charset="-120"/>
              </a:rPr>
              <a:t>What do you get? </a:t>
            </a:r>
            <a:r>
              <a:rPr lang="en-US" sz="1600" b="1" dirty="0">
                <a:solidFill>
                  <a:srgbClr val="E3C98E"/>
                </a:solidFill>
                <a:latin typeface="Inter" pitchFamily="34" charset="0"/>
                <a:ea typeface="Inter" pitchFamily="34" charset="-122"/>
                <a:cs typeface="Inter" pitchFamily="34" charset="-120"/>
              </a:rPr>
              <a:t>Real rewards from the bank.</a:t>
            </a:r>
            <a:endParaRPr lang="en-US" sz="1600" dirty="0"/>
          </a:p>
        </p:txBody>
      </p:sp>
      <p:sp>
        <p:nvSpPr>
          <p:cNvPr id="7" name="Text 4"/>
          <p:cNvSpPr/>
          <p:nvPr>
            <p:ph type="title"/>
          </p:nvPr>
        </p:nvSpPr>
        <p:spPr>
          <a:xfrm>
            <a:off x="812800" y="3164842"/>
            <a:ext cx="6278880" cy="787400"/>
          </a:xfrm>
          <a:prstGeom prst="rect">
            <a:avLst/>
          </a:prstGeom>
          <a:noFill/>
          <a:ln/>
        </p:spPr>
        <p:txBody>
          <a:bodyPr wrap="square" lIns="0" tIns="0" rIns="0" bIns="0" rtlCol="0" anchor="t">
            <a:normAutofit/>
          </a:bodyPr>
          <a:lstStyle/>
          <a:p>
            <a:pPr algn="l" indent="0" marL="0">
              <a:lnSpc>
                <a:spcPts val="6000"/>
              </a:lnSpc>
              <a:buNone/>
            </a:pPr>
            <a:r>
              <a:rPr lang="en-US" sz="6000" b="1" i="0" spc="500" kern="0" dirty="0">
                <a:solidFill>
                  <a:srgbClr val="E3C98E"/>
                </a:solidFill>
                <a:latin typeface="Cinzel" pitchFamily="18" charset="0"/>
                <a:ea typeface="Cinzel" pitchFamily="18" charset="-122"/>
                <a:cs typeface="Cinzel" pitchFamily="18" charset="-120"/>
              </a:rPr>
              <a:t>JOFIT</a:t>
            </a:r>
            <a:endParaRPr lang="en-US" sz="6000" dirty="0"/>
          </a:p>
        </p:txBody>
      </p:sp>
      <p:sp>
        <p:nvSpPr>
          <p:cNvPr id="8" name="Text 5"/>
          <p:cNvSpPr/>
          <p:nvPr/>
        </p:nvSpPr>
        <p:spPr>
          <a:xfrm>
            <a:off x="812800" y="4155442"/>
            <a:ext cx="627888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EF3E8"/>
                </a:solidFill>
                <a:latin typeface="Sora" pitchFamily="34" charset="0"/>
                <a:ea typeface="Sora" pitchFamily="34" charset="-122"/>
                <a:cs typeface="Sora" pitchFamily="34" charset="-120"/>
              </a:rPr>
              <a:t>Train safe. Get paid back. Thank you.</a:t>
            </a:r>
            <a:endParaRPr lang="en-US" sz="2200" dirty="0"/>
          </a:p>
        </p:txBody>
      </p:sp>
      <p:sp>
        <p:nvSpPr>
          <p:cNvPr id="9" name="Shape 6"/>
          <p:cNvSpPr/>
          <p:nvPr/>
        </p:nvSpPr>
        <p:spPr>
          <a:xfrm>
            <a:off x="812800" y="4778375"/>
            <a:ext cx="6096000" cy="0"/>
          </a:xfrm>
          <a:prstGeom prst="line">
            <a:avLst/>
          </a:prstGeom>
          <a:noFill/>
          <a:ln w="6350">
            <a:solidFill>
              <a:srgbClr val="4E7A62"/>
            </a:solidFill>
            <a:prstDash val="solid"/>
          </a:ln>
        </p:spPr>
      </p:sp>
      <p:sp>
        <p:nvSpPr>
          <p:cNvPr id="10" name="Text 7"/>
          <p:cNvSpPr/>
          <p:nvPr/>
        </p:nvSpPr>
        <p:spPr>
          <a:xfrm>
            <a:off x="812800" y="4907285"/>
            <a:ext cx="6278880"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4BC8C"/>
                </a:solidFill>
                <a:latin typeface="JetBrains Mono" pitchFamily="49" charset="0"/>
                <a:ea typeface="JetBrains Mono" pitchFamily="49" charset="-122"/>
                <a:cs typeface="JetBrains Mono" pitchFamily="49" charset="-120"/>
              </a:rPr>
              <a:t>TEAM JOFIT</a:t>
            </a:r>
            <a:endParaRPr lang="en-US" sz="1200" dirty="0"/>
          </a:p>
        </p:txBody>
      </p:sp>
      <p:sp>
        <p:nvSpPr>
          <p:cNvPr id="11" name="Text 8"/>
          <p:cNvSpPr/>
          <p:nvPr/>
        </p:nvSpPr>
        <p:spPr>
          <a:xfrm>
            <a:off x="812800" y="5171442"/>
            <a:ext cx="62788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3E8"/>
                </a:solidFill>
                <a:latin typeface="Inter" pitchFamily="34" charset="0"/>
                <a:ea typeface="Inter" pitchFamily="34" charset="-122"/>
                <a:cs typeface="Inter" pitchFamily="34" charset="-120"/>
              </a:rPr>
              <a:t>Zaid Hammad · Mohammad Dwiek · Abdulla Abu Sair · Wael Haboush</a:t>
            </a:r>
            <a:endParaRPr lang="en-US" sz="1400" dirty="0"/>
          </a:p>
        </p:txBody>
      </p:sp>
    </p:spTree>
  </p:cSld>
  <p:clrMapOvr>
    <a:masterClrMapping/>
  </p:clrMapOvr>
</p:sld>
</file>

<file path=ppt/theme/theme1.xml><?xml version="1.0" encoding="utf-8"?>
<a:theme xmlns:a="http://schemas.openxmlformats.org/drawingml/2006/main" name="JOFIT Pitch Deck">
  <a:themeElements>
    <a:clrScheme name="JOFIT Pitch Deck">
      <a:dk1>
        <a:srgbClr val="0E1511"/>
      </a:dk1>
      <a:lt1>
        <a:srgbClr val="EEF3E8"/>
      </a:lt1>
      <a:dk2>
        <a:srgbClr val="242B27"/>
      </a:dk2>
      <a:lt2>
        <a:srgbClr val="B6BCB2"/>
      </a:lt2>
      <a:accent1>
        <a:srgbClr val="62C48E"/>
      </a:accent1>
      <a:accent2>
        <a:srgbClr val="D4BC8C"/>
      </a:accent2>
      <a:accent3>
        <a:srgbClr val="E3C98E"/>
      </a:accent3>
      <a:accent4>
        <a:srgbClr val="1E7A4D"/>
      </a:accent4>
      <a:accent5>
        <a:srgbClr val="7A5C26"/>
      </a:accent5>
      <a:accent6>
        <a:srgbClr val="E3A574"/>
      </a:accent6>
      <a:hlink>
        <a:srgbClr val="0563C1"/>
      </a:hlink>
      <a:folHlink>
        <a:srgbClr val="954F72"/>
      </a:folHlink>
    </a:clrScheme>
    <a:fontScheme name="JOFIT Pitch Deck">
      <a:majorFont>
        <a:latin typeface="Sor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JOFIT Pitch Deck</dc:title>
  <dc:subject/>
  <dc:creator/>
  <cp:lastModifiedBy/>
  <cp:revision>1</cp:revision>
  <dcterms:created xsi:type="dcterms:W3CDTF">2026-10-10T09:33:08Z</dcterms:created>
  <dcterms:modified xsi:type="dcterms:W3CDTF">2026-10-10T09:33:08Z</dcterms:modified>
</cp:coreProperties>
</file>